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00FFFF"/>
    <a:srgbClr val="6AA27D"/>
    <a:srgbClr val="3E6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slide. The V2 cover strengthens the portrait with a premium glass badge, deeper shadow, grid decoration, and an executive prepared-for line.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reserves a clear 49px footer zone. The two metric cards sit above it with preserved type scale and reading space.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Company trajectory as supplied in the user-provided base presentation.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Mentor guidance replaced with the concise executive wording supplied by the user.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data ecosystem as supplied in the base presentation.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Raw-signals transformation updated to Raw Data → Cleaned Data → Modeled Data → Actionable Insights → Business Decisions → Business Value, with Business Value emphasized.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Technical skills and business-impact layout retained from the base presentation.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Forward-looking reflection as supplied in the base presentation.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slide. Prepared-for metadata updated to Ahmed Mazhar · Co-Founder &amp; CCO.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base HTML presentation brief and Connect Money brand assets.</a:t>
            </a:r>
          </a:p>
          <a:p>
            <a:r>
              <a:t>- User-provided portrait: Mohamed Emad.jpeg.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D3B38CA-549D-4A69-9408-0D709FF0FCC8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rgbClr val="F5F7F6"/>
              </a:gs>
              <a:gs pos="100000">
                <a:srgbClr val="E2F4ED"/>
              </a:gs>
            </a:gsLst>
            <a:lin ang="9300000"/>
          </a:gra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5D5614-51B7-454E-BFAA-7ED104AFE0E4}"/>
              </a:ext>
            </a:extLst>
          </p:cNvPr>
          <p:cNvSpPr>
            <a:spLocks noGrp="1"/>
          </p:cNvSpPr>
          <p:nvPr/>
        </p:nvSpPr>
        <p:spPr>
          <a:xfrm>
            <a:off x="8191500" y="-2266950"/>
            <a:ext cx="5334000" cy="5334000"/>
          </a:xfrm>
          <a:prstGeom prst="ellipse">
            <a:avLst/>
          </a:prstGeom>
          <a:solidFill>
            <a:srgbClr val="00875A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CE5671-6946-4042-A99A-2BDB9A36DE4A}"/>
              </a:ext>
            </a:extLst>
          </p:cNvPr>
          <p:cNvSpPr>
            <a:spLocks noGrp="1"/>
          </p:cNvSpPr>
          <p:nvPr/>
        </p:nvSpPr>
        <p:spPr>
          <a:xfrm>
            <a:off x="4581525" y="5048250"/>
            <a:ext cx="3429000" cy="3429000"/>
          </a:xfrm>
          <a:prstGeom prst="ellipse">
            <a:avLst/>
          </a:prstGeom>
          <a:solidFill>
            <a:srgbClr val="00875A">
              <a:alpha val="5000"/>
            </a:srgbClr>
          </a:solidFill>
          <a:ln w="0">
            <a:noFill/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EF3CF1A-5DE7-4D34-B674-8EFDDC7FE6C0}"/>
              </a:ext>
            </a:extLst>
          </p:cNvPr>
          <p:cNvSpPr>
            <a:spLocks noGrp="1"/>
          </p:cNvSpPr>
          <p:nvPr/>
        </p:nvSpPr>
        <p:spPr>
          <a:xfrm>
            <a:off x="628650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80DB67F-A220-4075-9F8E-6768CF7E8703}"/>
              </a:ext>
            </a:extLst>
          </p:cNvPr>
          <p:cNvSpPr>
            <a:spLocks noGrp="1"/>
          </p:cNvSpPr>
          <p:nvPr/>
        </p:nvSpPr>
        <p:spPr>
          <a:xfrm>
            <a:off x="676275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AC59673-BBA4-4759-86B6-7242858E067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AE3FF64-50DD-457A-9927-D1E82A023609}"/>
              </a:ext>
            </a:extLst>
          </p:cNvPr>
          <p:cNvSpPr>
            <a:spLocks noGrp="1"/>
          </p:cNvSpPr>
          <p:nvPr/>
        </p:nvSpPr>
        <p:spPr>
          <a:xfrm>
            <a:off x="771525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D442494-2DA1-488B-B0EA-4D1145E971ED}"/>
              </a:ext>
            </a:extLst>
          </p:cNvPr>
          <p:cNvSpPr>
            <a:spLocks noGrp="1"/>
          </p:cNvSpPr>
          <p:nvPr/>
        </p:nvSpPr>
        <p:spPr>
          <a:xfrm>
            <a:off x="819150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63A60A1-39F2-4744-B1BF-A622EC800858}"/>
              </a:ext>
            </a:extLst>
          </p:cNvPr>
          <p:cNvSpPr>
            <a:spLocks noGrp="1"/>
          </p:cNvSpPr>
          <p:nvPr/>
        </p:nvSpPr>
        <p:spPr>
          <a:xfrm>
            <a:off x="866775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D55C970-8329-4FAB-B1A6-54715686B73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7942ACE-DD25-4433-8909-E5D30AE68C0A}"/>
              </a:ext>
            </a:extLst>
          </p:cNvPr>
          <p:cNvSpPr>
            <a:spLocks noGrp="1"/>
          </p:cNvSpPr>
          <p:nvPr/>
        </p:nvSpPr>
        <p:spPr>
          <a:xfrm>
            <a:off x="962025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32E9EDC-C1DB-475E-BC49-39C3A5B879C1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0" cy="685800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5F85852-9B92-4D55-B657-84FD5F11A9B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98E530E-AC26-41F6-9C1E-9E4D65B102F9}"/>
              </a:ext>
            </a:extLst>
          </p:cNvPr>
          <p:cNvSpPr>
            <a:spLocks noGrp="1"/>
          </p:cNvSpPr>
          <p:nvPr/>
        </p:nvSpPr>
        <p:spPr>
          <a:xfrm>
            <a:off x="6096000" y="4762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39E92AD-8666-489F-AC5A-903CF1A33153}"/>
              </a:ext>
            </a:extLst>
          </p:cNvPr>
          <p:cNvSpPr>
            <a:spLocks noGrp="1"/>
          </p:cNvSpPr>
          <p:nvPr/>
        </p:nvSpPr>
        <p:spPr>
          <a:xfrm>
            <a:off x="6096000" y="9525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FCF0B10-72D2-4EF8-8B72-F5452065D578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3EB1244-B88D-4C76-946C-F37BC06194A4}"/>
              </a:ext>
            </a:extLst>
          </p:cNvPr>
          <p:cNvSpPr>
            <a:spLocks noGrp="1"/>
          </p:cNvSpPr>
          <p:nvPr/>
        </p:nvSpPr>
        <p:spPr>
          <a:xfrm>
            <a:off x="6096000" y="19050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7FC268A-1B75-4A78-B149-7ADC0492B466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60D470B-ADCD-4730-A158-67C8035A74D1}"/>
              </a:ext>
            </a:extLst>
          </p:cNvPr>
          <p:cNvSpPr>
            <a:spLocks noGrp="1"/>
          </p:cNvSpPr>
          <p:nvPr/>
        </p:nvSpPr>
        <p:spPr>
          <a:xfrm>
            <a:off x="6096000" y="28575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ED5BA7-5076-406C-96AF-784288AB7D60}"/>
              </a:ext>
            </a:extLst>
          </p:cNvPr>
          <p:cNvSpPr>
            <a:spLocks noGrp="1"/>
          </p:cNvSpPr>
          <p:nvPr/>
        </p:nvSpPr>
        <p:spPr>
          <a:xfrm>
            <a:off x="6096000" y="33337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74CCFE9-3349-4832-8424-6986B4520C42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73CCB688-4285-45D4-9E96-27D89E01557F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503CE384-1545-452C-AF96-AADB47D612B5}"/>
              </a:ext>
            </a:extLst>
          </p:cNvPr>
          <p:cNvSpPr>
            <a:spLocks noGrp="1"/>
          </p:cNvSpPr>
          <p:nvPr/>
        </p:nvSpPr>
        <p:spPr>
          <a:xfrm>
            <a:off x="6096000" y="47625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16C015D-F1A6-4B6B-BD3E-F9943C98DC36}"/>
              </a:ext>
            </a:extLst>
          </p:cNvPr>
          <p:cNvSpPr>
            <a:spLocks noGrp="1"/>
          </p:cNvSpPr>
          <p:nvPr/>
        </p:nvSpPr>
        <p:spPr>
          <a:xfrm>
            <a:off x="6096000" y="52387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653887D-C0C5-441B-9B8E-E0DDCEF215C6}"/>
              </a:ext>
            </a:extLst>
          </p:cNvPr>
          <p:cNvSpPr>
            <a:spLocks noGrp="1"/>
          </p:cNvSpPr>
          <p:nvPr/>
        </p:nvSpPr>
        <p:spPr>
          <a:xfrm>
            <a:off x="6096000" y="571500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3FB03CD-0221-48D6-B6BE-E53DBDBBB072}"/>
              </a:ext>
            </a:extLst>
          </p:cNvPr>
          <p:cNvSpPr>
            <a:spLocks noGrp="1"/>
          </p:cNvSpPr>
          <p:nvPr/>
        </p:nvSpPr>
        <p:spPr>
          <a:xfrm>
            <a:off x="6096000" y="6191250"/>
            <a:ext cx="6096000" cy="0"/>
          </a:xfrm>
          <a:prstGeom prst="line">
            <a:avLst/>
          </a:prstGeom>
          <a:noFill/>
          <a:ln w="9525">
            <a:solidFill>
              <a:srgbClr val="00875A">
                <a:alpha val="5000"/>
              </a:srgbClr>
            </a:solidFill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762000"/>
            <a:ext cx="457200" cy="457200"/>
          </a:xfrm>
          <a:prstGeom prst="roundRect">
            <a:avLst>
              <a:gd name="adj" fmla="val 25000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2C50E06-8CFE-4970-B0D0-B99169278EE4}"/>
              </a:ext>
            </a:extLst>
          </p:cNvPr>
          <p:cNvSpPr>
            <a:spLocks noGrp="1"/>
          </p:cNvSpPr>
          <p:nvPr/>
        </p:nvSpPr>
        <p:spPr>
          <a:xfrm>
            <a:off x="1352550" y="8001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A0FE51-5C9F-46D9-BE9D-41758B547D68}"/>
              </a:ext>
            </a:extLst>
          </p:cNvPr>
          <p:cNvSpPr>
            <a:spLocks noGrp="1"/>
          </p:cNvSpPr>
          <p:nvPr/>
        </p:nvSpPr>
        <p:spPr>
          <a:xfrm>
            <a:off x="1352550" y="1038225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Embedded Finance · Banking-as-a-Service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783E99-872B-4000-854E-3FBA326ED778}"/>
              </a:ext>
            </a:extLst>
          </p:cNvPr>
          <p:cNvSpPr>
            <a:spLocks noGrp="1"/>
          </p:cNvSpPr>
          <p:nvPr/>
        </p:nvSpPr>
        <p:spPr>
          <a:xfrm>
            <a:off x="638173" y="1804987"/>
            <a:ext cx="2343150" cy="323850"/>
          </a:xfrm>
          <a:prstGeom prst="roundRect">
            <a:avLst>
              <a:gd name="adj" fmla="val 50000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39D26C-6D81-48DA-9161-E4E802FFAF24}"/>
              </a:ext>
            </a:extLst>
          </p:cNvPr>
          <p:cNvSpPr>
            <a:spLocks noGrp="1"/>
          </p:cNvSpPr>
          <p:nvPr/>
        </p:nvSpPr>
        <p:spPr>
          <a:xfrm>
            <a:off x="781051" y="1930145"/>
            <a:ext cx="76200" cy="76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C8FC96-8BD8-4ADA-95BB-0B006786A3B9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2133599" cy="2333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 dirty="0">
                <a:solidFill>
                  <a:srgbClr val="00875A"/>
                </a:solidFill>
                <a:latin typeface="Aptos"/>
                <a:ea typeface="Aptos"/>
                <a:cs typeface="Aptos"/>
              </a:rPr>
              <a:t>INTERNSHIP REFLECTION · 2026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EFDF13-9426-4120-87EC-1E20AA878035}"/>
              </a:ext>
            </a:extLst>
          </p:cNvPr>
          <p:cNvSpPr>
            <a:spLocks noGrp="1"/>
          </p:cNvSpPr>
          <p:nvPr/>
        </p:nvSpPr>
        <p:spPr>
          <a:xfrm>
            <a:off x="638173" y="2238374"/>
            <a:ext cx="5267327" cy="20193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828"/>
          </a:bodyPr>
          <a:lstStyle/>
          <a:p>
            <a:pPr algn="l">
              <a:lnSpc>
                <a:spcPct val="95000"/>
              </a:lnSpc>
              <a:buNone/>
              <a:defRPr sz="54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5400" b="1" i="0" dirty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My internship</a:t>
            </a:r>
          </a:p>
          <a:p>
            <a:pPr algn="l">
              <a:lnSpc>
                <a:spcPct val="95000"/>
              </a:lnSpc>
              <a:buNone/>
              <a:defRPr sz="54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5400" b="1" i="0" dirty="0">
                <a:solidFill>
                  <a:srgbClr val="0F1B1A"/>
                </a:solidFill>
                <a:latin typeface="Aptos"/>
                <a:ea typeface="Aptos"/>
                <a:cs typeface="Aptos"/>
              </a:rPr>
              <a:t>journey at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6D98FA-DF48-45A3-9ECF-CA0F739AF60E}"/>
              </a:ext>
            </a:extLst>
          </p:cNvPr>
          <p:cNvSpPr>
            <a:spLocks noGrp="1"/>
          </p:cNvSpPr>
          <p:nvPr/>
        </p:nvSpPr>
        <p:spPr>
          <a:xfrm>
            <a:off x="638174" y="3752850"/>
            <a:ext cx="4505326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389"/>
          </a:bodyPr>
          <a:lstStyle/>
          <a:p>
            <a:pPr algn="l">
              <a:defRPr sz="54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5400" b="1" i="0" dirty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Connect Money.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E59146-C87D-4B5C-B857-E400476E677E}"/>
              </a:ext>
            </a:extLst>
          </p:cNvPr>
          <p:cNvSpPr>
            <a:spLocks noGrp="1"/>
          </p:cNvSpPr>
          <p:nvPr/>
        </p:nvSpPr>
        <p:spPr>
          <a:xfrm>
            <a:off x="676275" y="4629149"/>
            <a:ext cx="47529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52"/>
          </a:bodyPr>
          <a:lstStyle/>
          <a:p>
            <a:pPr algn="l">
              <a:lnSpc>
                <a:spcPct val="120000"/>
              </a:lnSpc>
              <a:buNone/>
              <a:defRPr sz="15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3A4948"/>
                </a:solidFill>
                <a:latin typeface="Aptos"/>
                <a:ea typeface="Aptos"/>
                <a:cs typeface="Aptos"/>
              </a:rPr>
              <a:t>A reflection on data, growth, and the road ahead for embedded finance.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C96D30-33FB-4068-98D7-0A09280D5E74}"/>
              </a:ext>
            </a:extLst>
          </p:cNvPr>
          <p:cNvSpPr>
            <a:spLocks noGrp="1"/>
          </p:cNvSpPr>
          <p:nvPr/>
        </p:nvSpPr>
        <p:spPr>
          <a:xfrm>
            <a:off x="762000" y="5934075"/>
            <a:ext cx="16668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PREPARED FOR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5F0478-0136-427E-B811-39840119B933}"/>
              </a:ext>
            </a:extLst>
          </p:cNvPr>
          <p:cNvSpPr>
            <a:spLocks noGrp="1"/>
          </p:cNvSpPr>
          <p:nvPr/>
        </p:nvSpPr>
        <p:spPr>
          <a:xfrm>
            <a:off x="762000" y="6124575"/>
            <a:ext cx="1666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Ahmed Mazhar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9D4C36-67E3-4509-8062-B7840028974D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1809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560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603F"/>
                </a:solidFill>
                <a:latin typeface="Aptos"/>
                <a:ea typeface="Aptos"/>
                <a:cs typeface="Aptos"/>
              </a:rPr>
              <a:t>· Co-Founder &amp; CCO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EEF3A2-6D3B-4368-9B2F-047C7F2385AF}"/>
              </a:ext>
            </a:extLst>
          </p:cNvPr>
          <p:cNvSpPr>
            <a:spLocks noGrp="1"/>
          </p:cNvSpPr>
          <p:nvPr/>
        </p:nvSpPr>
        <p:spPr>
          <a:xfrm>
            <a:off x="3028950" y="5934075"/>
            <a:ext cx="952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FC1647-82B0-4E59-9C90-3D3796DE4DA3}"/>
              </a:ext>
            </a:extLst>
          </p:cNvPr>
          <p:cNvSpPr>
            <a:spLocks noGrp="1"/>
          </p:cNvSpPr>
          <p:nvPr/>
        </p:nvSpPr>
        <p:spPr>
          <a:xfrm>
            <a:off x="3028950" y="612457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Data Intern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64ED21-9450-4BB2-9B5C-034FAD543EF0}"/>
              </a:ext>
            </a:extLst>
          </p:cNvPr>
          <p:cNvSpPr>
            <a:spLocks noGrp="1"/>
          </p:cNvSpPr>
          <p:nvPr/>
        </p:nvSpPr>
        <p:spPr>
          <a:xfrm>
            <a:off x="4648200" y="5934075"/>
            <a:ext cx="952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C4D104-49EE-4586-85C5-9885129D660D}"/>
              </a:ext>
            </a:extLst>
          </p:cNvPr>
          <p:cNvSpPr>
            <a:spLocks noGrp="1"/>
          </p:cNvSpPr>
          <p:nvPr/>
        </p:nvSpPr>
        <p:spPr>
          <a:xfrm>
            <a:off x="4648200" y="612457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Executive Brief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56B3A46-F74B-4429-B8F0-3722D234515E}"/>
              </a:ext>
            </a:extLst>
          </p:cNvPr>
          <p:cNvSpPr>
            <a:spLocks noGrp="1"/>
          </p:cNvSpPr>
          <p:nvPr/>
        </p:nvSpPr>
        <p:spPr>
          <a:xfrm>
            <a:off x="7334250" y="962025"/>
            <a:ext cx="3714750" cy="48196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57969F5-C151-44FF-A81F-3EC153AA79A2}"/>
              </a:ext>
            </a:extLst>
          </p:cNvPr>
          <p:cNvSpPr>
            <a:spLocks noGrp="1"/>
          </p:cNvSpPr>
          <p:nvPr/>
        </p:nvSpPr>
        <p:spPr>
          <a:xfrm>
            <a:off x="8839200" y="85725"/>
            <a:ext cx="2228850" cy="222885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  <a:prstDash val="solid"/>
          </a:ln>
        </p:spPr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4"/>
          <a:srcRect t="6173" b="6173"/>
          <a:stretch>
            <a:fillRect/>
          </a:stretch>
        </p:blipFill>
        <p:spPr>
          <a:xfrm>
            <a:off x="7448550" y="1076325"/>
            <a:ext cx="3486150" cy="4591050"/>
          </a:xfrm>
          <a:prstGeom prst="roundRect">
            <a:avLst>
              <a:gd name="adj" fmla="val 6557"/>
            </a:avLst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D8948FD-95B8-447B-9D5B-17F6025062E0}"/>
              </a:ext>
            </a:extLst>
          </p:cNvPr>
          <p:cNvSpPr>
            <a:spLocks noGrp="1"/>
          </p:cNvSpPr>
          <p:nvPr/>
        </p:nvSpPr>
        <p:spPr>
          <a:xfrm>
            <a:off x="7610475" y="5038725"/>
            <a:ext cx="3162300" cy="466725"/>
          </a:xfrm>
          <a:prstGeom prst="roundRect">
            <a:avLst>
              <a:gd name="adj" fmla="val 2449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5BD91EB-1BEF-47A0-84E7-20F9E05994A1}"/>
              </a:ext>
            </a:extLst>
          </p:cNvPr>
          <p:cNvSpPr>
            <a:spLocks noGrp="1"/>
          </p:cNvSpPr>
          <p:nvPr/>
        </p:nvSpPr>
        <p:spPr>
          <a:xfrm>
            <a:off x="7753350" y="51149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256BB3-9965-4E0F-B464-668B7AA41ED7}"/>
              </a:ext>
            </a:extLst>
          </p:cNvPr>
          <p:cNvSpPr>
            <a:spLocks noGrp="1"/>
          </p:cNvSpPr>
          <p:nvPr/>
        </p:nvSpPr>
        <p:spPr>
          <a:xfrm>
            <a:off x="7753350" y="5200650"/>
            <a:ext cx="32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141356-27C8-47E1-8EB6-0E844FE687FE}"/>
              </a:ext>
            </a:extLst>
          </p:cNvPr>
          <p:cNvSpPr>
            <a:spLocks noGrp="1"/>
          </p:cNvSpPr>
          <p:nvPr/>
        </p:nvSpPr>
        <p:spPr>
          <a:xfrm>
            <a:off x="8191500" y="5133975"/>
            <a:ext cx="1619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Mohamed Emad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E46B11-8AF6-4AE5-9A94-97581346A813}"/>
              </a:ext>
            </a:extLst>
          </p:cNvPr>
          <p:cNvSpPr>
            <a:spLocks noGrp="1"/>
          </p:cNvSpPr>
          <p:nvPr/>
        </p:nvSpPr>
        <p:spPr>
          <a:xfrm>
            <a:off x="8191500" y="5314950"/>
            <a:ext cx="21431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DATA INTERN · CONNECT MONEY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1FF3CCC-29CC-4534-B4DD-F2AC61E79294}"/>
              </a:ext>
            </a:extLst>
          </p:cNvPr>
          <p:cNvSpPr>
            <a:spLocks noGrp="1"/>
          </p:cNvSpPr>
          <p:nvPr/>
        </p:nvSpPr>
        <p:spPr>
          <a:xfrm>
            <a:off x="6381750" y="552450"/>
            <a:ext cx="1695450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9525">
            <a:solidFill>
              <a:srgbClr val="FFFFFF">
                <a:alpha val="7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9989204-0B32-4000-BD82-1B3F3E9C018B}"/>
              </a:ext>
            </a:extLst>
          </p:cNvPr>
          <p:cNvSpPr>
            <a:spLocks noGrp="1"/>
          </p:cNvSpPr>
          <p:nvPr/>
        </p:nvSpPr>
        <p:spPr>
          <a:xfrm>
            <a:off x="6477000" y="657225"/>
            <a:ext cx="152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◉  Data ecosystem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D357542-DFB0-4108-985C-041990815BFC}"/>
              </a:ext>
            </a:extLst>
          </p:cNvPr>
          <p:cNvSpPr>
            <a:spLocks noGrp="1"/>
          </p:cNvSpPr>
          <p:nvPr/>
        </p:nvSpPr>
        <p:spPr>
          <a:xfrm>
            <a:off x="10334625" y="5267325"/>
            <a:ext cx="1695450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9525">
            <a:solidFill>
              <a:srgbClr val="FFFFFF">
                <a:alpha val="7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CBA2B1F-7F61-40DC-BA7B-812876CB73D9}"/>
              </a:ext>
            </a:extLst>
          </p:cNvPr>
          <p:cNvSpPr>
            <a:spLocks noGrp="1"/>
          </p:cNvSpPr>
          <p:nvPr/>
        </p:nvSpPr>
        <p:spPr>
          <a:xfrm>
            <a:off x="10429875" y="5372100"/>
            <a:ext cx="152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↗  Growth trajectory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0ABA531-4F3A-42B6-B897-C4D06E9606BB}"/>
              </a:ext>
            </a:extLst>
          </p:cNvPr>
          <p:cNvSpPr>
            <a:spLocks noGrp="1"/>
          </p:cNvSpPr>
          <p:nvPr/>
        </p:nvSpPr>
        <p:spPr>
          <a:xfrm>
            <a:off x="10572750" y="3105150"/>
            <a:ext cx="1695450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9525">
            <a:solidFill>
              <a:srgbClr val="FFFFFF">
                <a:alpha val="7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A17B09-56AB-422C-900A-40883D4EB2DD}"/>
              </a:ext>
            </a:extLst>
          </p:cNvPr>
          <p:cNvSpPr>
            <a:spLocks noGrp="1"/>
          </p:cNvSpPr>
          <p:nvPr/>
        </p:nvSpPr>
        <p:spPr>
          <a:xfrm>
            <a:off x="10668000" y="3209925"/>
            <a:ext cx="152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▦  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123766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2B59B88-F87C-44B1-AFB4-1BA1BF0595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EBD559F-7904-43B9-8444-7C9174DE5546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C8AE44-27DD-4D0A-A919-9EE09AD3F36B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CFBB2-ADED-4CB1-BA32-B856C8B4B0D1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ACAC8B-FC61-49B6-9EFF-D8D1ACC82DFA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02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DC96A-E5B7-4E23-A4D2-FCED7695F024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PERSPECTIVE BEFORE JOINING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4D681D-3EE8-42EB-A233-455AF8EBC096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93790A4-8F3A-413E-B275-C09EB18B6BF0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4EEC5E-DBB0-4506-8A8A-9CFB854E4B0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D6A198D-321A-4874-9D19-9ADAFD74C6F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4D6000-B33E-4D59-865A-A7CE94E9A035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01 · PERSPECTIVE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EAC46A-2F87-4356-B6FF-719F87727C59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What I knew before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joining Connect Money.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686E3-43DF-41C8-9FDE-7FD6CC00AE71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A Banking-as-a-Service platform enabling businesses to launch embedded financial products in weeks, not years.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40BD28-3DB6-4967-818C-F8C052475CB4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5448300" cy="2400300"/>
          </a:xfrm>
          <a:prstGeom prst="roundRect">
            <a:avLst>
              <a:gd name="adj" fmla="val 6349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1DF46-A728-4DCD-A121-DA0E888CD2C7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TRADITIONAL BANKING PATH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F7C7A7-716D-49CE-845B-D7AABDEA0DA1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CC2AEE-013B-465D-BD9C-E90935CB2577}"/>
              </a:ext>
            </a:extLst>
          </p:cNvPr>
          <p:cNvSpPr>
            <a:spLocks noGrp="1"/>
          </p:cNvSpPr>
          <p:nvPr/>
        </p:nvSpPr>
        <p:spPr>
          <a:xfrm>
            <a:off x="1009650" y="30289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677DFF-ECA3-4605-9F20-AEDB5365D72C}"/>
              </a:ext>
            </a:extLst>
          </p:cNvPr>
          <p:cNvSpPr>
            <a:spLocks noGrp="1"/>
          </p:cNvSpPr>
          <p:nvPr/>
        </p:nvSpPr>
        <p:spPr>
          <a:xfrm>
            <a:off x="1352550" y="301942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Apply for licensing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B4FED5-78F1-480C-A7D6-DA86D99B3DBB}"/>
              </a:ext>
            </a:extLst>
          </p:cNvPr>
          <p:cNvSpPr>
            <a:spLocks noGrp="1"/>
          </p:cNvSpPr>
          <p:nvPr/>
        </p:nvSpPr>
        <p:spPr>
          <a:xfrm>
            <a:off x="4895850" y="302895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Months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333AA7D-D1F2-4676-8D95-C442D9DA0669}"/>
              </a:ext>
            </a:extLst>
          </p:cNvPr>
          <p:cNvSpPr>
            <a:spLocks noGrp="1"/>
          </p:cNvSpPr>
          <p:nvPr/>
        </p:nvSpPr>
        <p:spPr>
          <a:xfrm>
            <a:off x="876300" y="336232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63DB7-E207-4CC3-9458-D19B645268C4}"/>
              </a:ext>
            </a:extLst>
          </p:cNvPr>
          <p:cNvSpPr>
            <a:spLocks noGrp="1"/>
          </p:cNvSpPr>
          <p:nvPr/>
        </p:nvSpPr>
        <p:spPr>
          <a:xfrm>
            <a:off x="1009650" y="34671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D2C607-0218-46C5-97B5-0DC2501DF81E}"/>
              </a:ext>
            </a:extLst>
          </p:cNvPr>
          <p:cNvSpPr>
            <a:spLocks noGrp="1"/>
          </p:cNvSpPr>
          <p:nvPr/>
        </p:nvSpPr>
        <p:spPr>
          <a:xfrm>
            <a:off x="1352550" y="34575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Build core infrastructure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07E1BA-FE66-44C7-838B-4D81876BE441}"/>
              </a:ext>
            </a:extLst>
          </p:cNvPr>
          <p:cNvSpPr>
            <a:spLocks noGrp="1"/>
          </p:cNvSpPr>
          <p:nvPr/>
        </p:nvSpPr>
        <p:spPr>
          <a:xfrm>
            <a:off x="4895850" y="346710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Quarters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1E1ED5-143B-4C82-8A1D-0CBBDDDCBC81}"/>
              </a:ext>
            </a:extLst>
          </p:cNvPr>
          <p:cNvSpPr>
            <a:spLocks noGrp="1"/>
          </p:cNvSpPr>
          <p:nvPr/>
        </p:nvSpPr>
        <p:spPr>
          <a:xfrm>
            <a:off x="876300" y="38004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FDD6EE-0CC6-48C9-8ED1-12B37647E2D7}"/>
              </a:ext>
            </a:extLst>
          </p:cNvPr>
          <p:cNvSpPr>
            <a:spLocks noGrp="1"/>
          </p:cNvSpPr>
          <p:nvPr/>
        </p:nvSpPr>
        <p:spPr>
          <a:xfrm>
            <a:off x="1009650" y="39052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2A8BEF-683D-457C-8088-D24AC4158F15}"/>
              </a:ext>
            </a:extLst>
          </p:cNvPr>
          <p:cNvSpPr>
            <a:spLocks noGrp="1"/>
          </p:cNvSpPr>
          <p:nvPr/>
        </p:nvSpPr>
        <p:spPr>
          <a:xfrm>
            <a:off x="1352550" y="389572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Compliance &amp; integrations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55E5C3-CE8F-4DE4-8E18-DB75A3555F4D}"/>
              </a:ext>
            </a:extLst>
          </p:cNvPr>
          <p:cNvSpPr>
            <a:spLocks noGrp="1"/>
          </p:cNvSpPr>
          <p:nvPr/>
        </p:nvSpPr>
        <p:spPr>
          <a:xfrm>
            <a:off x="4895850" y="390525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Years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F8E62FE-12B5-4B4A-886E-D4C675EE6EE6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0139DE-897E-46F5-98A7-0EC67F4DA7AF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C74502-7280-42AC-A9D5-F0E09900B02B}"/>
              </a:ext>
            </a:extLst>
          </p:cNvPr>
          <p:cNvSpPr>
            <a:spLocks noGrp="1"/>
          </p:cNvSpPr>
          <p:nvPr/>
        </p:nvSpPr>
        <p:spPr>
          <a:xfrm>
            <a:off x="1352550" y="43338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6678FF-6F38-4D2E-8A09-37D1A9867F6E}"/>
              </a:ext>
            </a:extLst>
          </p:cNvPr>
          <p:cNvSpPr>
            <a:spLocks noGrp="1"/>
          </p:cNvSpPr>
          <p:nvPr/>
        </p:nvSpPr>
        <p:spPr>
          <a:xfrm>
            <a:off x="4895850" y="434340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2–3 yrs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2C89DE1-A718-4AC5-9375-DEFDAD754D70}"/>
              </a:ext>
            </a:extLst>
          </p:cNvPr>
          <p:cNvSpPr>
            <a:spLocks noGrp="1"/>
          </p:cNvSpPr>
          <p:nvPr/>
        </p:nvSpPr>
        <p:spPr>
          <a:xfrm>
            <a:off x="6134100" y="2409825"/>
            <a:ext cx="5448300" cy="2400300"/>
          </a:xfrm>
          <a:prstGeom prst="roundRect">
            <a:avLst>
              <a:gd name="adj" fmla="val 6349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398E4C-5886-464E-9AE9-3EDCF950A8A3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CONNECT MONEY MODEL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FA17078-F229-4A5A-83DD-BC3DBD619BF8}"/>
              </a:ext>
            </a:extLst>
          </p:cNvPr>
          <p:cNvSpPr>
            <a:spLocks noGrp="1"/>
          </p:cNvSpPr>
          <p:nvPr/>
        </p:nvSpPr>
        <p:spPr>
          <a:xfrm>
            <a:off x="6400800" y="29241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4504E0-B39A-43B6-A805-CEEB48329ED8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0E8AF4-6F07-4F4B-A113-D784C3BCE361}"/>
              </a:ext>
            </a:extLst>
          </p:cNvPr>
          <p:cNvSpPr>
            <a:spLocks noGrp="1"/>
          </p:cNvSpPr>
          <p:nvPr/>
        </p:nvSpPr>
        <p:spPr>
          <a:xfrm>
            <a:off x="6877050" y="301942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Plug into the platform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ABDF1E-16C3-4DE4-8988-2D0CF03B6AEA}"/>
              </a:ext>
            </a:extLst>
          </p:cNvPr>
          <p:cNvSpPr>
            <a:spLocks noGrp="1"/>
          </p:cNvSpPr>
          <p:nvPr/>
        </p:nvSpPr>
        <p:spPr>
          <a:xfrm>
            <a:off x="10420350" y="302895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Days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10B1592-E285-4C51-B1A9-F5AAA2911E82}"/>
              </a:ext>
            </a:extLst>
          </p:cNvPr>
          <p:cNvSpPr>
            <a:spLocks noGrp="1"/>
          </p:cNvSpPr>
          <p:nvPr/>
        </p:nvSpPr>
        <p:spPr>
          <a:xfrm>
            <a:off x="6400800" y="336232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D6F8D2-5083-4DE8-A0CE-56CFA6620AF5}"/>
              </a:ext>
            </a:extLst>
          </p:cNvPr>
          <p:cNvSpPr>
            <a:spLocks noGrp="1"/>
          </p:cNvSpPr>
          <p:nvPr/>
        </p:nvSpPr>
        <p:spPr>
          <a:xfrm>
            <a:off x="6534150" y="34671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BC3591-6DBA-4CC6-A8B1-C50CBE900D19}"/>
              </a:ext>
            </a:extLst>
          </p:cNvPr>
          <p:cNvSpPr>
            <a:spLocks noGrp="1"/>
          </p:cNvSpPr>
          <p:nvPr/>
        </p:nvSpPr>
        <p:spPr>
          <a:xfrm>
            <a:off x="6877050" y="34575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Integrate via APIs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A23B913-4DD5-4FFF-971E-82E81C136D61}"/>
              </a:ext>
            </a:extLst>
          </p:cNvPr>
          <p:cNvSpPr>
            <a:spLocks noGrp="1"/>
          </p:cNvSpPr>
          <p:nvPr/>
        </p:nvSpPr>
        <p:spPr>
          <a:xfrm>
            <a:off x="10420350" y="346710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436DC3F-5CC0-44B2-AC0D-D9F812379003}"/>
              </a:ext>
            </a:extLst>
          </p:cNvPr>
          <p:cNvSpPr>
            <a:spLocks noGrp="1"/>
          </p:cNvSpPr>
          <p:nvPr/>
        </p:nvSpPr>
        <p:spPr>
          <a:xfrm>
            <a:off x="6400800" y="38004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2CC2D3-2B9A-4538-A118-8BEE8AD0D448}"/>
              </a:ext>
            </a:extLst>
          </p:cNvPr>
          <p:cNvSpPr>
            <a:spLocks noGrp="1"/>
          </p:cNvSpPr>
          <p:nvPr/>
        </p:nvSpPr>
        <p:spPr>
          <a:xfrm>
            <a:off x="6534150" y="39052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C19697-1A72-4D52-AA8F-F98F49EB672D}"/>
              </a:ext>
            </a:extLst>
          </p:cNvPr>
          <p:cNvSpPr>
            <a:spLocks noGrp="1"/>
          </p:cNvSpPr>
          <p:nvPr/>
        </p:nvSpPr>
        <p:spPr>
          <a:xfrm>
            <a:off x="6877050" y="389572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Configure &amp; test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000B16-0BE7-4C42-BA53-1B484D4B1711}"/>
              </a:ext>
            </a:extLst>
          </p:cNvPr>
          <p:cNvSpPr>
            <a:spLocks noGrp="1"/>
          </p:cNvSpPr>
          <p:nvPr/>
        </p:nvSpPr>
        <p:spPr>
          <a:xfrm>
            <a:off x="10420350" y="390525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725D368-B0E3-4877-A0A8-04A604B212D2}"/>
              </a:ext>
            </a:extLst>
          </p:cNvPr>
          <p:cNvSpPr>
            <a:spLocks noGrp="1"/>
          </p:cNvSpPr>
          <p:nvPr/>
        </p:nvSpPr>
        <p:spPr>
          <a:xfrm>
            <a:off x="6400800" y="423862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BD524A-7473-4646-AE2E-8A46C40469F8}"/>
              </a:ext>
            </a:extLst>
          </p:cNvPr>
          <p:cNvSpPr>
            <a:spLocks noGrp="1"/>
          </p:cNvSpPr>
          <p:nvPr/>
        </p:nvSpPr>
        <p:spPr>
          <a:xfrm>
            <a:off x="6534150" y="43434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F773CD-038B-4CD6-9F87-B7CBAE66CF8E}"/>
              </a:ext>
            </a:extLst>
          </p:cNvPr>
          <p:cNvSpPr>
            <a:spLocks noGrp="1"/>
          </p:cNvSpPr>
          <p:nvPr/>
        </p:nvSpPr>
        <p:spPr>
          <a:xfrm>
            <a:off x="6877050" y="43338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Launch product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42DC5C-9E9D-4095-8769-48AB902F62AC}"/>
              </a:ext>
            </a:extLst>
          </p:cNvPr>
          <p:cNvSpPr>
            <a:spLocks noGrp="1"/>
          </p:cNvSpPr>
          <p:nvPr/>
        </p:nvSpPr>
        <p:spPr>
          <a:xfrm>
            <a:off x="10420350" y="4343400"/>
            <a:ext cx="723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~10 wks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290AF33-8763-4C9C-B73B-937C26261C67}"/>
              </a:ext>
            </a:extLst>
          </p:cNvPr>
          <p:cNvSpPr>
            <a:spLocks noGrp="1"/>
          </p:cNvSpPr>
          <p:nvPr/>
        </p:nvSpPr>
        <p:spPr>
          <a:xfrm>
            <a:off x="5753100" y="3390900"/>
            <a:ext cx="457200" cy="457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CCD533-06C2-4C96-9D5A-6A51A4808402}"/>
              </a:ext>
            </a:extLst>
          </p:cNvPr>
          <p:cNvSpPr>
            <a:spLocks noGrp="1"/>
          </p:cNvSpPr>
          <p:nvPr/>
        </p:nvSpPr>
        <p:spPr>
          <a:xfrm>
            <a:off x="5838825" y="353377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A6F2186-F71E-432E-8896-E7194C31A43C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52959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5542F9-6D18-4B68-9639-E479D12CD7DB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586"/>
          </a:bodyPr>
          <a:lstStyle/>
          <a:p>
            <a:pPr algn="l">
              <a:defRPr sz="21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B2B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9B1AA3-F280-4051-838A-3A5EC4A89496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90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Business-to-business model — enabling partners to offer financial services natively.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00D77AA-CD10-4038-B17B-15CEBCA7766E}"/>
              </a:ext>
            </a:extLst>
          </p:cNvPr>
          <p:cNvSpPr>
            <a:spLocks noGrp="1"/>
          </p:cNvSpPr>
          <p:nvPr/>
        </p:nvSpPr>
        <p:spPr>
          <a:xfrm>
            <a:off x="6134100" y="5029200"/>
            <a:ext cx="52959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6D077-4829-45F6-ABFD-D0BF9A164E50}"/>
              </a:ext>
            </a:extLst>
          </p:cNvPr>
          <p:cNvSpPr>
            <a:spLocks noGrp="1"/>
          </p:cNvSpPr>
          <p:nvPr/>
        </p:nvSpPr>
        <p:spPr>
          <a:xfrm>
            <a:off x="6324600" y="518160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586"/>
          </a:bodyPr>
          <a:lstStyle/>
          <a:p>
            <a:pPr algn="l">
              <a:defRPr sz="21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~10 weeks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BA50E6-18DE-4442-AF46-B856569DFBF1}"/>
              </a:ext>
            </a:extLst>
          </p:cNvPr>
          <p:cNvSpPr>
            <a:spLocks noGrp="1"/>
          </p:cNvSpPr>
          <p:nvPr/>
        </p:nvSpPr>
        <p:spPr>
          <a:xfrm>
            <a:off x="6324600" y="5514975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90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Average time from integration to live product — versus years of licensing the traditional way.</a:t>
            </a:r>
          </a:p>
        </p:txBody>
      </p:sp>
    </p:spTree>
    <p:extLst>
      <p:ext uri="{BB962C8B-B14F-4D97-AF65-F5344CB8AC3E}">
        <p14:creationId xmlns:p14="http://schemas.microsoft.com/office/powerpoint/2010/main" val="124435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D878969-A5AF-4949-B053-A0A6821B0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0087D16-91F0-4FCF-8F76-AC23899760E1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1ED01D-816D-487D-BC59-EB5DAB300CBA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CCE97-007B-48F6-A68A-F2C3CB8A2BF7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02179-9874-4758-98EE-F29C18261F3C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03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1325B-A088-4B4C-8614-B3E944B15EEE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COMPANY GROWTH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83F4A-BBB3-4B22-BC88-C24E5DDD6386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1B20E23-A14B-402D-B968-4B1C7754FB92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C37BF-FAD3-4016-B7C9-6D51CF5AA2D2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669387F-3D90-4B78-997F-7B09E530091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167508-87E7-47F6-9D88-31DAD6236E44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02 · TRAJECTORY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5D0D7-3217-41B7-98AC-B3F37F943AB4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 young company,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moving with intent.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AA886-A950-41C6-BB9D-183FFC5B9E87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Founded in late 2023 — backed by $8M in 2024 funding, accelerating technology, expansion, and new product lines.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63DCAD3-9F09-4A42-9396-FCCAD53A3E82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97280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3D3C32-9033-4115-99EF-66C974F835AD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LATE 2023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A1AAF8-961E-42D5-A421-80B8FF62B6B6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71450" cy="1714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D33A5E-5DE9-48DF-BFD6-887AD85B15E5}"/>
              </a:ext>
            </a:extLst>
          </p:cNvPr>
          <p:cNvSpPr>
            <a:spLocks noGrp="1"/>
          </p:cNvSpPr>
          <p:nvPr/>
        </p:nvSpPr>
        <p:spPr>
          <a:xfrm>
            <a:off x="657225" y="2962275"/>
            <a:ext cx="76200" cy="76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AD1F41-9B8D-40EF-AD9D-C92D452625F7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2552700" cy="1304925"/>
          </a:xfrm>
          <a:prstGeom prst="roundRect">
            <a:avLst>
              <a:gd name="adj" fmla="val 8759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D698B4-66FE-4864-A0FB-B267031C64F4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Company founded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040BE-E2E5-4F9C-9540-4EB9C2320E6F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2152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9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Established to redefine Banking-as-a-Service across the region.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E9EF08-7EDC-4F8D-AE6B-76327D882262}"/>
              </a:ext>
            </a:extLst>
          </p:cNvPr>
          <p:cNvSpPr>
            <a:spLocks noGrp="1"/>
          </p:cNvSpPr>
          <p:nvPr/>
        </p:nvSpPr>
        <p:spPr>
          <a:xfrm>
            <a:off x="3390900" y="25622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2CD330-4766-4F5D-B54F-1D61D0E84163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171450" cy="1714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B9E8BB-2159-4072-A142-A966B2B44CCB}"/>
              </a:ext>
            </a:extLst>
          </p:cNvPr>
          <p:cNvSpPr>
            <a:spLocks noGrp="1"/>
          </p:cNvSpPr>
          <p:nvPr/>
        </p:nvSpPr>
        <p:spPr>
          <a:xfrm>
            <a:off x="3438525" y="2962275"/>
            <a:ext cx="76200" cy="76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E453A7-AFFE-4220-9AF4-6C9DAD131B87}"/>
              </a:ext>
            </a:extLst>
          </p:cNvPr>
          <p:cNvSpPr>
            <a:spLocks noGrp="1"/>
          </p:cNvSpPr>
          <p:nvPr/>
        </p:nvSpPr>
        <p:spPr>
          <a:xfrm>
            <a:off x="3390900" y="3238500"/>
            <a:ext cx="2552700" cy="1304925"/>
          </a:xfrm>
          <a:prstGeom prst="roundRect">
            <a:avLst>
              <a:gd name="adj" fmla="val 8759"/>
            </a:avLst>
          </a:prstGeom>
          <a:solidFill>
            <a:srgbClr val="E6F4E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0F4A87-D96E-4773-97CA-9E59FC255E83}"/>
              </a:ext>
            </a:extLst>
          </p:cNvPr>
          <p:cNvSpPr>
            <a:spLocks noGrp="1"/>
          </p:cNvSpPr>
          <p:nvPr/>
        </p:nvSpPr>
        <p:spPr>
          <a:xfrm>
            <a:off x="3562350" y="34099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$8M funding raised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0800A3-ECBC-43FA-8B23-25F6598F7DB2}"/>
              </a:ext>
            </a:extLst>
          </p:cNvPr>
          <p:cNvSpPr>
            <a:spLocks noGrp="1"/>
          </p:cNvSpPr>
          <p:nvPr/>
        </p:nvSpPr>
        <p:spPr>
          <a:xfrm>
            <a:off x="3562350" y="3657600"/>
            <a:ext cx="2152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9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Capital secured to accelerate platform buildout and market positioning.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F1D317-99E2-4695-9746-900447750C00}"/>
              </a:ext>
            </a:extLst>
          </p:cNvPr>
          <p:cNvSpPr>
            <a:spLocks noGrp="1"/>
          </p:cNvSpPr>
          <p:nvPr/>
        </p:nvSpPr>
        <p:spPr>
          <a:xfrm>
            <a:off x="3562350" y="41814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$8M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7E2D64-8F82-4695-8A07-28569CDC481D}"/>
              </a:ext>
            </a:extLst>
          </p:cNvPr>
          <p:cNvSpPr>
            <a:spLocks noGrp="1"/>
          </p:cNvSpPr>
          <p:nvPr/>
        </p:nvSpPr>
        <p:spPr>
          <a:xfrm>
            <a:off x="6172200" y="25622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2024 — 2025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1872A1-3071-4A87-BDD0-08450AAD3899}"/>
              </a:ext>
            </a:extLst>
          </p:cNvPr>
          <p:cNvSpPr>
            <a:spLocks noGrp="1"/>
          </p:cNvSpPr>
          <p:nvPr/>
        </p:nvSpPr>
        <p:spPr>
          <a:xfrm>
            <a:off x="6172200" y="2914650"/>
            <a:ext cx="171450" cy="1714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E80263-7028-4B10-94C9-126B330F95EF}"/>
              </a:ext>
            </a:extLst>
          </p:cNvPr>
          <p:cNvSpPr>
            <a:spLocks noGrp="1"/>
          </p:cNvSpPr>
          <p:nvPr/>
        </p:nvSpPr>
        <p:spPr>
          <a:xfrm>
            <a:off x="6219825" y="2962275"/>
            <a:ext cx="76200" cy="76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5E9A05-450E-4407-80C8-E1272502C524}"/>
              </a:ext>
            </a:extLst>
          </p:cNvPr>
          <p:cNvSpPr>
            <a:spLocks noGrp="1"/>
          </p:cNvSpPr>
          <p:nvPr/>
        </p:nvSpPr>
        <p:spPr>
          <a:xfrm>
            <a:off x="6172200" y="3238500"/>
            <a:ext cx="2552700" cy="1304925"/>
          </a:xfrm>
          <a:prstGeom prst="roundRect">
            <a:avLst>
              <a:gd name="adj" fmla="val 8759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8B5937-33E9-4A34-91DB-0E30C902D796}"/>
              </a:ext>
            </a:extLst>
          </p:cNvPr>
          <p:cNvSpPr>
            <a:spLocks noGrp="1"/>
          </p:cNvSpPr>
          <p:nvPr/>
        </p:nvSpPr>
        <p:spPr>
          <a:xfrm>
            <a:off x="6343650" y="34099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Technology acceleration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A0B98E-A628-40CB-AD93-CDF73F684F22}"/>
              </a:ext>
            </a:extLst>
          </p:cNvPr>
          <p:cNvSpPr>
            <a:spLocks noGrp="1"/>
          </p:cNvSpPr>
          <p:nvPr/>
        </p:nvSpPr>
        <p:spPr>
          <a:xfrm>
            <a:off x="6343650" y="3657600"/>
            <a:ext cx="2152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9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Core platform, APIs, and data infrastructure scaled for partners.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A9C60C-5C3E-475E-8F5C-4CDC077A4672}"/>
              </a:ext>
            </a:extLst>
          </p:cNvPr>
          <p:cNvSpPr>
            <a:spLocks noGrp="1"/>
          </p:cNvSpPr>
          <p:nvPr/>
        </p:nvSpPr>
        <p:spPr>
          <a:xfrm>
            <a:off x="8953500" y="25622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2026 +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835DBE5-833D-4561-9B9B-55591D46689A}"/>
              </a:ext>
            </a:extLst>
          </p:cNvPr>
          <p:cNvSpPr>
            <a:spLocks noGrp="1"/>
          </p:cNvSpPr>
          <p:nvPr/>
        </p:nvSpPr>
        <p:spPr>
          <a:xfrm>
            <a:off x="8953500" y="2914650"/>
            <a:ext cx="171450" cy="1714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CB412F-7232-4E0A-B8D5-EB7CB67AE89C}"/>
              </a:ext>
            </a:extLst>
          </p:cNvPr>
          <p:cNvSpPr>
            <a:spLocks noGrp="1"/>
          </p:cNvSpPr>
          <p:nvPr/>
        </p:nvSpPr>
        <p:spPr>
          <a:xfrm>
            <a:off x="9001125" y="2962275"/>
            <a:ext cx="76200" cy="762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25975E-8B0C-4292-8A87-E4FFBDA21722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2552700" cy="1304925"/>
          </a:xfrm>
          <a:prstGeom prst="roundRect">
            <a:avLst>
              <a:gd name="adj" fmla="val 8759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2843D5-3A8C-4E16-A660-635E96F42828}"/>
              </a:ext>
            </a:extLst>
          </p:cNvPr>
          <p:cNvSpPr>
            <a:spLocks noGrp="1"/>
          </p:cNvSpPr>
          <p:nvPr/>
        </p:nvSpPr>
        <p:spPr>
          <a:xfrm>
            <a:off x="9124950" y="34099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Expansion &amp; new products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3F9450-FA7C-46D4-AD3D-A8781FDB6BE1}"/>
              </a:ext>
            </a:extLst>
          </p:cNvPr>
          <p:cNvSpPr>
            <a:spLocks noGrp="1"/>
          </p:cNvSpPr>
          <p:nvPr/>
        </p:nvSpPr>
        <p:spPr>
          <a:xfrm>
            <a:off x="9124950" y="3657600"/>
            <a:ext cx="2152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9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New services, verticals, and embedded-finance use cases unlocked.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183FE03-20CE-4A9B-B807-1506E2CEE172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25527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98E2C10-A40B-46E1-A8B7-F5D000415C65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52FF92-7394-4C3D-BC41-093901B5016D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◫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AEFA7A-7169-4853-BA03-21B6102B818E}"/>
              </a:ext>
            </a:extLst>
          </p:cNvPr>
          <p:cNvSpPr>
            <a:spLocks noGrp="1"/>
          </p:cNvSpPr>
          <p:nvPr/>
        </p:nvSpPr>
        <p:spPr>
          <a:xfrm>
            <a:off x="1219200" y="5048250"/>
            <a:ext cx="1581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CB50FE-29BC-4F20-A3B7-F9B4D4758758}"/>
              </a:ext>
            </a:extLst>
          </p:cNvPr>
          <p:cNvSpPr>
            <a:spLocks noGrp="1"/>
          </p:cNvSpPr>
          <p:nvPr/>
        </p:nvSpPr>
        <p:spPr>
          <a:xfrm>
            <a:off x="1219200" y="5219700"/>
            <a:ext cx="1619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Platform acceleration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58EBEA5-CB12-4862-ACD4-62542008F858}"/>
              </a:ext>
            </a:extLst>
          </p:cNvPr>
          <p:cNvSpPr>
            <a:spLocks noGrp="1"/>
          </p:cNvSpPr>
          <p:nvPr/>
        </p:nvSpPr>
        <p:spPr>
          <a:xfrm>
            <a:off x="3390900" y="4867275"/>
            <a:ext cx="25527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F0DDEB7-3195-4EB5-901E-B12F30FD1FD2}"/>
              </a:ext>
            </a:extLst>
          </p:cNvPr>
          <p:cNvSpPr>
            <a:spLocks noGrp="1"/>
          </p:cNvSpPr>
          <p:nvPr/>
        </p:nvSpPr>
        <p:spPr>
          <a:xfrm>
            <a:off x="3543300" y="5029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9DB2DC-0670-4D83-8CB0-3253C6DD1C5D}"/>
              </a:ext>
            </a:extLst>
          </p:cNvPr>
          <p:cNvSpPr>
            <a:spLocks noGrp="1"/>
          </p:cNvSpPr>
          <p:nvPr/>
        </p:nvSpPr>
        <p:spPr>
          <a:xfrm>
            <a:off x="3543300" y="50958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◎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AFA09D-2F29-4D3E-B3FA-31E3DD9A4C64}"/>
              </a:ext>
            </a:extLst>
          </p:cNvPr>
          <p:cNvSpPr>
            <a:spLocks noGrp="1"/>
          </p:cNvSpPr>
          <p:nvPr/>
        </p:nvSpPr>
        <p:spPr>
          <a:xfrm>
            <a:off x="4000500" y="5048250"/>
            <a:ext cx="1581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Expansion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8A470E-3A4C-453D-ACDE-4D5AA1A1C230}"/>
              </a:ext>
            </a:extLst>
          </p:cNvPr>
          <p:cNvSpPr>
            <a:spLocks noGrp="1"/>
          </p:cNvSpPr>
          <p:nvPr/>
        </p:nvSpPr>
        <p:spPr>
          <a:xfrm>
            <a:off x="4000500" y="5219700"/>
            <a:ext cx="1619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New markets &amp; verticals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B62825B-DEDB-46B3-AC13-10B69203EB6A}"/>
              </a:ext>
            </a:extLst>
          </p:cNvPr>
          <p:cNvSpPr>
            <a:spLocks noGrp="1"/>
          </p:cNvSpPr>
          <p:nvPr/>
        </p:nvSpPr>
        <p:spPr>
          <a:xfrm>
            <a:off x="6172200" y="4867275"/>
            <a:ext cx="25527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7E695B0-32D9-4476-BA55-D3BA7B7A92FF}"/>
              </a:ext>
            </a:extLst>
          </p:cNvPr>
          <p:cNvSpPr>
            <a:spLocks noGrp="1"/>
          </p:cNvSpPr>
          <p:nvPr/>
        </p:nvSpPr>
        <p:spPr>
          <a:xfrm>
            <a:off x="6324600" y="5029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87B869-CDC0-479C-ACFC-7C868DD7514A}"/>
              </a:ext>
            </a:extLst>
          </p:cNvPr>
          <p:cNvSpPr>
            <a:spLocks noGrp="1"/>
          </p:cNvSpPr>
          <p:nvPr/>
        </p:nvSpPr>
        <p:spPr>
          <a:xfrm>
            <a:off x="6324600" y="50958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0BA2EFC-AB69-43B6-8D33-E147CA3DEF7D}"/>
              </a:ext>
            </a:extLst>
          </p:cNvPr>
          <p:cNvSpPr>
            <a:spLocks noGrp="1"/>
          </p:cNvSpPr>
          <p:nvPr/>
        </p:nvSpPr>
        <p:spPr>
          <a:xfrm>
            <a:off x="6781800" y="5048250"/>
            <a:ext cx="1581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New products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312F99-FB11-4D3F-AC62-28A9C2F4673E}"/>
              </a:ext>
            </a:extLst>
          </p:cNvPr>
          <p:cNvSpPr>
            <a:spLocks noGrp="1"/>
          </p:cNvSpPr>
          <p:nvPr/>
        </p:nvSpPr>
        <p:spPr>
          <a:xfrm>
            <a:off x="6781800" y="5219700"/>
            <a:ext cx="1619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Embedded-finance lines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45F0C5E-BEFA-4AE3-9AC0-EA4FE2B7C618}"/>
              </a:ext>
            </a:extLst>
          </p:cNvPr>
          <p:cNvSpPr>
            <a:spLocks noGrp="1"/>
          </p:cNvSpPr>
          <p:nvPr/>
        </p:nvSpPr>
        <p:spPr>
          <a:xfrm>
            <a:off x="8953500" y="4867275"/>
            <a:ext cx="25527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C8FE872-6D3D-4ED8-803D-49D0E178B8AB}"/>
              </a:ext>
            </a:extLst>
          </p:cNvPr>
          <p:cNvSpPr>
            <a:spLocks noGrp="1"/>
          </p:cNvSpPr>
          <p:nvPr/>
        </p:nvSpPr>
        <p:spPr>
          <a:xfrm>
            <a:off x="9105900" y="5029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60A6170-0575-4F97-9562-01824EB3DE97}"/>
              </a:ext>
            </a:extLst>
          </p:cNvPr>
          <p:cNvSpPr>
            <a:spLocks noGrp="1"/>
          </p:cNvSpPr>
          <p:nvPr/>
        </p:nvSpPr>
        <p:spPr>
          <a:xfrm>
            <a:off x="9105900" y="50958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✚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2D6AA0-B1D6-4B47-89B1-68EFA4674E26}"/>
              </a:ext>
            </a:extLst>
          </p:cNvPr>
          <p:cNvSpPr>
            <a:spLocks noGrp="1"/>
          </p:cNvSpPr>
          <p:nvPr/>
        </p:nvSpPr>
        <p:spPr>
          <a:xfrm>
            <a:off x="9563100" y="5048250"/>
            <a:ext cx="1581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New services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477142-7CBC-4563-A8CA-C3A8AF00D3C8}"/>
              </a:ext>
            </a:extLst>
          </p:cNvPr>
          <p:cNvSpPr>
            <a:spLocks noGrp="1"/>
          </p:cNvSpPr>
          <p:nvPr/>
        </p:nvSpPr>
        <p:spPr>
          <a:xfrm>
            <a:off x="9563100" y="5219700"/>
            <a:ext cx="1619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Broader partner offerings</a:t>
            </a:r>
          </a:p>
        </p:txBody>
      </p:sp>
    </p:spTree>
    <p:extLst>
      <p:ext uri="{BB962C8B-B14F-4D97-AF65-F5344CB8AC3E}">
        <p14:creationId xmlns:p14="http://schemas.microsoft.com/office/powerpoint/2010/main" val="213180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23741314-13C8-4D0B-9729-FEA90D7D46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87779F5-81CC-4581-90B1-AD293C604B21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E82B72-3EEF-4976-8C36-B2EA01C74E1E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BEF373-C8A7-4D4F-9DE4-CD1DFA95934C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0E506-0B6A-4D19-853F-03E3C1F9A228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04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36254-03C7-4A1F-82B6-D391AFC85364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FIRST WEEK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FAB62-9FED-4E6E-85E4-281D52B7B70F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308A4CE-D392-466C-B49A-FE1C9B1301A0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E0F13A-65C5-4752-A48C-6DA85131F252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F92AF42-AFC0-4EA6-9D97-5326AB17B34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C7A59-6ACB-4A48-A42F-0D93F3646BE4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03 · ONBOARDING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CE7C9-746E-436F-B2CE-E6DB3F9DB87A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The first week: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tools, mentors, momentum.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2B540-F74C-438B-AE0B-555344261CEE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Introduced to SQL, Metabase, and internal workflows — guided by colleagues who accelerated my ramp-up through deliberate practice.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D56845-5EC9-4750-9477-9B66045E308C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20193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F89FC5-2437-41A9-A22D-0B41A678FCC3}"/>
              </a:ext>
            </a:extLst>
          </p:cNvPr>
          <p:cNvSpPr>
            <a:spLocks noGrp="1"/>
          </p:cNvSpPr>
          <p:nvPr/>
        </p:nvSpPr>
        <p:spPr>
          <a:xfrm>
            <a:off x="771525" y="25527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A43304-5DE5-44C0-B5A6-351D7F6B579E}"/>
              </a:ext>
            </a:extLst>
          </p:cNvPr>
          <p:cNvSpPr>
            <a:spLocks noGrp="1"/>
          </p:cNvSpPr>
          <p:nvPr/>
        </p:nvSpPr>
        <p:spPr>
          <a:xfrm>
            <a:off x="771525" y="26193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8430DB-DE19-4B85-B3E4-E7E675A04CDD}"/>
              </a:ext>
            </a:extLst>
          </p:cNvPr>
          <p:cNvSpPr>
            <a:spLocks noGrp="1"/>
          </p:cNvSpPr>
          <p:nvPr/>
        </p:nvSpPr>
        <p:spPr>
          <a:xfrm>
            <a:off x="771525" y="300037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702BDD-4F6D-44C0-A6B9-1FFF7DD8F8A9}"/>
              </a:ext>
            </a:extLst>
          </p:cNvPr>
          <p:cNvSpPr>
            <a:spLocks noGrp="1"/>
          </p:cNvSpPr>
          <p:nvPr/>
        </p:nvSpPr>
        <p:spPr>
          <a:xfrm>
            <a:off x="771525" y="3200400"/>
            <a:ext cx="1676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768"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Querying operational data and analytics tables.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C983B4-394A-4CFD-B838-71DB8A7EF0F5}"/>
              </a:ext>
            </a:extLst>
          </p:cNvPr>
          <p:cNvSpPr>
            <a:spLocks noGrp="1"/>
          </p:cNvSpPr>
          <p:nvPr/>
        </p:nvSpPr>
        <p:spPr>
          <a:xfrm>
            <a:off x="2762250" y="2390775"/>
            <a:ext cx="2019300" cy="1076325"/>
          </a:xfrm>
          <a:prstGeom prst="roundRect">
            <a:avLst>
              <a:gd name="adj" fmla="val 10619"/>
            </a:avLst>
          </a:prstGeom>
          <a:solidFill>
            <a:srgbClr val="E6F4EF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3D07C68-3A54-49E7-9BDA-82B399C3EB9C}"/>
              </a:ext>
            </a:extLst>
          </p:cNvPr>
          <p:cNvSpPr>
            <a:spLocks noGrp="1"/>
          </p:cNvSpPr>
          <p:nvPr/>
        </p:nvSpPr>
        <p:spPr>
          <a:xfrm>
            <a:off x="2924175" y="25527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ED241D-6CEF-457D-B0E8-50064E3824D8}"/>
              </a:ext>
            </a:extLst>
          </p:cNvPr>
          <p:cNvSpPr>
            <a:spLocks noGrp="1"/>
          </p:cNvSpPr>
          <p:nvPr/>
        </p:nvSpPr>
        <p:spPr>
          <a:xfrm>
            <a:off x="2924175" y="26193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00DB98-A99D-48BC-B810-A37628FB63A4}"/>
              </a:ext>
            </a:extLst>
          </p:cNvPr>
          <p:cNvSpPr>
            <a:spLocks noGrp="1"/>
          </p:cNvSpPr>
          <p:nvPr/>
        </p:nvSpPr>
        <p:spPr>
          <a:xfrm>
            <a:off x="2924175" y="300037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Metabase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95B1E2-D365-4D07-9262-A4006E136AD4}"/>
              </a:ext>
            </a:extLst>
          </p:cNvPr>
          <p:cNvSpPr>
            <a:spLocks noGrp="1"/>
          </p:cNvSpPr>
          <p:nvPr/>
        </p:nvSpPr>
        <p:spPr>
          <a:xfrm>
            <a:off x="2924175" y="3200400"/>
            <a:ext cx="1676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795"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Dashboards and business-intelligence layer.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350210-EFD7-4046-B53D-5611360797C3}"/>
              </a:ext>
            </a:extLst>
          </p:cNvPr>
          <p:cNvSpPr>
            <a:spLocks noGrp="1"/>
          </p:cNvSpPr>
          <p:nvPr/>
        </p:nvSpPr>
        <p:spPr>
          <a:xfrm>
            <a:off x="2924175" y="3305175"/>
            <a:ext cx="638175" cy="123825"/>
          </a:xfrm>
          <a:prstGeom prst="roundRect">
            <a:avLst>
              <a:gd name="adj" fmla="val 50000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198CB7-9226-460C-9C92-B89CBD3AA491}"/>
              </a:ext>
            </a:extLst>
          </p:cNvPr>
          <p:cNvSpPr>
            <a:spLocks noGrp="1"/>
          </p:cNvSpPr>
          <p:nvPr/>
        </p:nvSpPr>
        <p:spPr>
          <a:xfrm>
            <a:off x="2971800" y="3324225"/>
            <a:ext cx="542925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5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TO 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8E76E24-F2EC-4720-9BD2-64E2D4A41D80}"/>
              </a:ext>
            </a:extLst>
          </p:cNvPr>
          <p:cNvSpPr>
            <a:spLocks noGrp="1"/>
          </p:cNvSpPr>
          <p:nvPr/>
        </p:nvSpPr>
        <p:spPr>
          <a:xfrm>
            <a:off x="4914900" y="2390775"/>
            <a:ext cx="20193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831BD0-5856-4517-993E-E4B06F4BCF7B}"/>
              </a:ext>
            </a:extLst>
          </p:cNvPr>
          <p:cNvSpPr>
            <a:spLocks noGrp="1"/>
          </p:cNvSpPr>
          <p:nvPr/>
        </p:nvSpPr>
        <p:spPr>
          <a:xfrm>
            <a:off x="5076825" y="25527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A6761D-20BB-4F9B-9FF3-33EAEDEF0D62}"/>
              </a:ext>
            </a:extLst>
          </p:cNvPr>
          <p:cNvSpPr>
            <a:spLocks noGrp="1"/>
          </p:cNvSpPr>
          <p:nvPr/>
        </p:nvSpPr>
        <p:spPr>
          <a:xfrm>
            <a:off x="5076825" y="26193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∿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59BADB-26A6-4B76-A4C1-126C35E7A45A}"/>
              </a:ext>
            </a:extLst>
          </p:cNvPr>
          <p:cNvSpPr>
            <a:spLocks noGrp="1"/>
          </p:cNvSpPr>
          <p:nvPr/>
        </p:nvSpPr>
        <p:spPr>
          <a:xfrm>
            <a:off x="5076825" y="300037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D38AC-83E7-436C-B2CC-7188EF13DF43}"/>
              </a:ext>
            </a:extLst>
          </p:cNvPr>
          <p:cNvSpPr>
            <a:spLocks noGrp="1"/>
          </p:cNvSpPr>
          <p:nvPr/>
        </p:nvSpPr>
        <p:spPr>
          <a:xfrm>
            <a:off x="5076825" y="3200400"/>
            <a:ext cx="1676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Internal data and reporting processes.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4F26728-F469-40E8-B968-032A79454422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6324600" cy="1933575"/>
          </a:xfrm>
          <a:prstGeom prst="roundRect">
            <a:avLst>
              <a:gd name="adj" fmla="val 5911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C63F68-EC59-4058-ACA4-1DDC8C8D5526}"/>
              </a:ext>
            </a:extLst>
          </p:cNvPr>
          <p:cNvSpPr>
            <a:spLocks noGrp="1"/>
          </p:cNvSpPr>
          <p:nvPr/>
        </p:nvSpPr>
        <p:spPr>
          <a:xfrm>
            <a:off x="800100" y="380047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Mentorship that accelerated my learning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921CCE-2888-4A07-BDF7-CEF051227896}"/>
              </a:ext>
            </a:extLst>
          </p:cNvPr>
          <p:cNvSpPr>
            <a:spLocks noGrp="1"/>
          </p:cNvSpPr>
          <p:nvPr/>
        </p:nvSpPr>
        <p:spPr>
          <a:xfrm>
            <a:off x="5905500" y="3819525"/>
            <a:ext cx="819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GUIDANCE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BB77F1-BDFB-4E89-8108-D465BC9B27FE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1885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E9DE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EC63B38-2D22-4E5A-9B25-733A24CF3D58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266700" cy="2667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0521E5-A490-44F8-8649-94AD96E206EA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905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D6CB84-5C27-4ACC-A215-6CC60784CB02}"/>
              </a:ext>
            </a:extLst>
          </p:cNvPr>
          <p:cNvSpPr>
            <a:spLocks noGrp="1"/>
          </p:cNvSpPr>
          <p:nvPr/>
        </p:nvSpPr>
        <p:spPr>
          <a:xfrm>
            <a:off x="1200150" y="4219575"/>
            <a:ext cx="1333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Arwa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56FC25-ACF5-4106-BDB3-D2DB6286C643}"/>
              </a:ext>
            </a:extLst>
          </p:cNvPr>
          <p:cNvSpPr>
            <a:spLocks noGrp="1"/>
          </p:cNvSpPr>
          <p:nvPr/>
        </p:nvSpPr>
        <p:spPr>
          <a:xfrm>
            <a:off x="933450" y="4505325"/>
            <a:ext cx="161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Built my Metabase and SQL foundation, from table relationships to KPIs and dashboards.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C553060-5B4B-4D73-B10A-C5CB4F0ECDCB}"/>
              </a:ext>
            </a:extLst>
          </p:cNvPr>
          <p:cNvSpPr>
            <a:spLocks noGrp="1"/>
          </p:cNvSpPr>
          <p:nvPr/>
        </p:nvSpPr>
        <p:spPr>
          <a:xfrm>
            <a:off x="2790825" y="4114800"/>
            <a:ext cx="1885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E9DE"/>
            </a:solidFill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965AE93-68AA-46AF-9A65-2BB8713A9B24}"/>
              </a:ext>
            </a:extLst>
          </p:cNvPr>
          <p:cNvSpPr>
            <a:spLocks noGrp="1"/>
          </p:cNvSpPr>
          <p:nvPr/>
        </p:nvSpPr>
        <p:spPr>
          <a:xfrm>
            <a:off x="2867025" y="4191000"/>
            <a:ext cx="266700" cy="266700"/>
          </a:xfrm>
          <a:prstGeom prst="ellipse">
            <a:avLst/>
          </a:prstGeom>
          <a:solidFill>
            <a:srgbClr val="0F1B1A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133A4E-ABFE-46D4-9EBC-EA19AE83C7A1}"/>
              </a:ext>
            </a:extLst>
          </p:cNvPr>
          <p:cNvSpPr>
            <a:spLocks noGrp="1"/>
          </p:cNvSpPr>
          <p:nvPr/>
        </p:nvSpPr>
        <p:spPr>
          <a:xfrm>
            <a:off x="2905125" y="4267200"/>
            <a:ext cx="1905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A027E2-6D37-40ED-A337-652F200F1CA7}"/>
              </a:ext>
            </a:extLst>
          </p:cNvPr>
          <p:cNvSpPr>
            <a:spLocks noGrp="1"/>
          </p:cNvSpPr>
          <p:nvPr/>
        </p:nvSpPr>
        <p:spPr>
          <a:xfrm>
            <a:off x="3190875" y="4219575"/>
            <a:ext cx="1333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Mohamed Bassam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A7B018-C6AD-42E5-9D83-37DF8E55F07B}"/>
              </a:ext>
            </a:extLst>
          </p:cNvPr>
          <p:cNvSpPr>
            <a:spLocks noGrp="1"/>
          </p:cNvSpPr>
          <p:nvPr/>
        </p:nvSpPr>
        <p:spPr>
          <a:xfrm>
            <a:off x="2924175" y="4505325"/>
            <a:ext cx="161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Connected Connect Money’s business model, products, and services to the underlying data.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88038B4-2808-4E61-81A8-D6A5918FA89B}"/>
              </a:ext>
            </a:extLst>
          </p:cNvPr>
          <p:cNvSpPr>
            <a:spLocks noGrp="1"/>
          </p:cNvSpPr>
          <p:nvPr/>
        </p:nvSpPr>
        <p:spPr>
          <a:xfrm>
            <a:off x="4781550" y="4114800"/>
            <a:ext cx="1885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E9DE"/>
            </a:solidFill>
            <a:prstDash val="solid"/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4AC24C1-B62D-4195-9D50-CD4C5BD364BD}"/>
              </a:ext>
            </a:extLst>
          </p:cNvPr>
          <p:cNvSpPr>
            <a:spLocks noGrp="1"/>
          </p:cNvSpPr>
          <p:nvPr/>
        </p:nvSpPr>
        <p:spPr>
          <a:xfrm>
            <a:off x="4857750" y="4191000"/>
            <a:ext cx="266700" cy="26670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877B70-33FA-4ABC-8B3F-6C2BB17E8BF7}"/>
              </a:ext>
            </a:extLst>
          </p:cNvPr>
          <p:cNvSpPr>
            <a:spLocks noGrp="1"/>
          </p:cNvSpPr>
          <p:nvPr/>
        </p:nvSpPr>
        <p:spPr>
          <a:xfrm>
            <a:off x="4895850" y="4267200"/>
            <a:ext cx="1905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9A28AA-E086-4301-9EC6-BC5FF883B9A8}"/>
              </a:ext>
            </a:extLst>
          </p:cNvPr>
          <p:cNvSpPr>
            <a:spLocks noGrp="1"/>
          </p:cNvSpPr>
          <p:nvPr/>
        </p:nvSpPr>
        <p:spPr>
          <a:xfrm>
            <a:off x="5181600" y="4219575"/>
            <a:ext cx="1333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Mohamed Mansour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11E618-9DA8-4586-8651-E3A08E389009}"/>
              </a:ext>
            </a:extLst>
          </p:cNvPr>
          <p:cNvSpPr>
            <a:spLocks noGrp="1"/>
          </p:cNvSpPr>
          <p:nvPr/>
        </p:nvSpPr>
        <p:spPr>
          <a:xfrm>
            <a:off x="4914900" y="4505325"/>
            <a:ext cx="1619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Translated business requirements into analysis and stronger cross-functional insights.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07CE268-CC1A-4BDC-BDA3-F92007C04EEE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4343400" cy="3152775"/>
          </a:xfrm>
          <a:prstGeom prst="roundRect">
            <a:avLst>
              <a:gd name="adj" fmla="val 3625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D0F6AC-F714-4609-94D6-1F692ED7F5E6}"/>
              </a:ext>
            </a:extLst>
          </p:cNvPr>
          <p:cNvSpPr>
            <a:spLocks noGrp="1"/>
          </p:cNvSpPr>
          <p:nvPr/>
        </p:nvSpPr>
        <p:spPr>
          <a:xfrm>
            <a:off x="7467600" y="2628900"/>
            <a:ext cx="2857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Learning curve — week one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E25C27-AA9F-4856-A018-443F5376BE6D}"/>
              </a:ext>
            </a:extLst>
          </p:cNvPr>
          <p:cNvSpPr>
            <a:spLocks noGrp="1"/>
          </p:cNvSpPr>
          <p:nvPr/>
        </p:nvSpPr>
        <p:spPr>
          <a:xfrm>
            <a:off x="7467600" y="2857500"/>
            <a:ext cx="3181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Comfort with SQL and Metabase grew steadily through hands-on practice.</a:t>
            </a: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8CE8E11D-96BE-4B88-BCAD-989170FAF57B}"/>
              </a:ext>
            </a:extLst>
          </p:cNvPr>
          <p:cNvSpPr>
            <a:spLocks noGrp="1"/>
          </p:cNvSpPr>
          <p:nvPr/>
        </p:nvSpPr>
        <p:spPr>
          <a:xfrm>
            <a:off x="7467600" y="4924425"/>
            <a:ext cx="38481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0D4240E-415B-435D-8F13-8F7F49C47D27}"/>
              </a:ext>
            </a:extLst>
          </p:cNvPr>
          <p:cNvSpPr>
            <a:spLocks noGrp="1"/>
          </p:cNvSpPr>
          <p:nvPr/>
        </p:nvSpPr>
        <p:spPr>
          <a:xfrm>
            <a:off x="7581900" y="4481513"/>
            <a:ext cx="447675" cy="442913"/>
          </a:xfrm>
          <a:prstGeom prst="roundRect">
            <a:avLst>
              <a:gd name="adj" fmla="val 4301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DF9951-0A34-4AC2-B3CD-34D2F2FE469F}"/>
              </a:ext>
            </a:extLst>
          </p:cNvPr>
          <p:cNvSpPr>
            <a:spLocks noGrp="1"/>
          </p:cNvSpPr>
          <p:nvPr/>
        </p:nvSpPr>
        <p:spPr>
          <a:xfrm>
            <a:off x="7581900" y="5019675"/>
            <a:ext cx="44767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9716108-FE6E-4788-8D96-1E3418730165}"/>
              </a:ext>
            </a:extLst>
          </p:cNvPr>
          <p:cNvSpPr>
            <a:spLocks noGrp="1"/>
          </p:cNvSpPr>
          <p:nvPr/>
        </p:nvSpPr>
        <p:spPr>
          <a:xfrm>
            <a:off x="8277225" y="4260056"/>
            <a:ext cx="447675" cy="664369"/>
          </a:xfrm>
          <a:prstGeom prst="roundRect">
            <a:avLst>
              <a:gd name="adj" fmla="val 4255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33E4E7-D40B-4ACE-95E7-23F1A5573DAC}"/>
              </a:ext>
            </a:extLst>
          </p:cNvPr>
          <p:cNvSpPr>
            <a:spLocks noGrp="1"/>
          </p:cNvSpPr>
          <p:nvPr/>
        </p:nvSpPr>
        <p:spPr>
          <a:xfrm>
            <a:off x="8277225" y="5019675"/>
            <a:ext cx="44767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F268704-5DAD-429B-AF2A-19557B19A02F}"/>
              </a:ext>
            </a:extLst>
          </p:cNvPr>
          <p:cNvSpPr>
            <a:spLocks noGrp="1"/>
          </p:cNvSpPr>
          <p:nvPr/>
        </p:nvSpPr>
        <p:spPr>
          <a:xfrm>
            <a:off x="8972550" y="4038600"/>
            <a:ext cx="447675" cy="885825"/>
          </a:xfrm>
          <a:prstGeom prst="roundRect">
            <a:avLst>
              <a:gd name="adj" fmla="val 4255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B3BEFCD-3E0B-4003-9FC1-AA089DB7365C}"/>
              </a:ext>
            </a:extLst>
          </p:cNvPr>
          <p:cNvSpPr>
            <a:spLocks noGrp="1"/>
          </p:cNvSpPr>
          <p:nvPr/>
        </p:nvSpPr>
        <p:spPr>
          <a:xfrm>
            <a:off x="8972550" y="5019675"/>
            <a:ext cx="44767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D2C4B5B-A52B-4689-A046-D08E57FFB1DB}"/>
              </a:ext>
            </a:extLst>
          </p:cNvPr>
          <p:cNvSpPr>
            <a:spLocks noGrp="1"/>
          </p:cNvSpPr>
          <p:nvPr/>
        </p:nvSpPr>
        <p:spPr>
          <a:xfrm>
            <a:off x="9667875" y="3772853"/>
            <a:ext cx="447675" cy="1151573"/>
          </a:xfrm>
          <a:prstGeom prst="roundRect">
            <a:avLst>
              <a:gd name="adj" fmla="val 4255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F8924FC-3041-4EA3-8C67-6C4BF8B8DA2F}"/>
              </a:ext>
            </a:extLst>
          </p:cNvPr>
          <p:cNvSpPr>
            <a:spLocks noGrp="1"/>
          </p:cNvSpPr>
          <p:nvPr/>
        </p:nvSpPr>
        <p:spPr>
          <a:xfrm>
            <a:off x="9667875" y="5019675"/>
            <a:ext cx="44767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2F6364A-EB6F-4E23-AC2D-909A3921692B}"/>
              </a:ext>
            </a:extLst>
          </p:cNvPr>
          <p:cNvSpPr>
            <a:spLocks noGrp="1"/>
          </p:cNvSpPr>
          <p:nvPr/>
        </p:nvSpPr>
        <p:spPr>
          <a:xfrm>
            <a:off x="10363200" y="3566160"/>
            <a:ext cx="447675" cy="1358265"/>
          </a:xfrm>
          <a:prstGeom prst="roundRect">
            <a:avLst>
              <a:gd name="adj" fmla="val 4255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EB73EE-762D-4B45-830E-2E9737E66440}"/>
              </a:ext>
            </a:extLst>
          </p:cNvPr>
          <p:cNvSpPr>
            <a:spLocks noGrp="1"/>
          </p:cNvSpPr>
          <p:nvPr/>
        </p:nvSpPr>
        <p:spPr>
          <a:xfrm>
            <a:off x="10363200" y="5019675"/>
            <a:ext cx="447675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D5</a:t>
            </a:r>
          </a:p>
        </p:txBody>
      </p:sp>
    </p:spTree>
    <p:extLst>
      <p:ext uri="{BB962C8B-B14F-4D97-AF65-F5344CB8AC3E}">
        <p14:creationId xmlns:p14="http://schemas.microsoft.com/office/powerpoint/2010/main" val="170642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2C6BF760-6ACE-457C-9288-5209A18DF2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4EAE7D3-2984-468E-B1F3-4B392674DBEA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F28D67-29B2-493B-BB14-7E1D4D467F6D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95559-0E15-4139-B4AD-289EFD4B7119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89C86-AC2C-4D2E-BB0B-504A2555F983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05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D6415-509C-4886-A10D-40878F2816EC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UNDERSTANDING THE DATA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7F081-ED35-4769-8691-205B10CB5DC7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AEB6CF1-5BB3-4002-BA30-BDF483239471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E88BDB-D60F-4BBE-A2A4-7AAC0424FC8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58C9F1F-870B-40CF-A452-6AD0EC9C94B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DBC7FF-3617-47BE-9EBD-FC3225E84C8F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04 · DATA ECOSYSTEM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EF6D0F-0796-4990-92FA-3C9403594A1E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How data flows from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operations to decisions.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C04876-413F-4EA4-BEDA-B4CDECDE0126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A clear pipeline from business systems to dashboards — learned with guidance from Soliman, who walked me through each stage.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6EA05A-AD88-4E86-B876-7AF323106AB2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726E2C-93E0-4E83-A6CE-50BDAD77D00E}"/>
              </a:ext>
            </a:extLst>
          </p:cNvPr>
          <p:cNvSpPr>
            <a:spLocks noGrp="1"/>
          </p:cNvSpPr>
          <p:nvPr/>
        </p:nvSpPr>
        <p:spPr>
          <a:xfrm>
            <a:off x="108585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D8A99-C777-45B6-8460-973B85DC9BE9}"/>
              </a:ext>
            </a:extLst>
          </p:cNvPr>
          <p:cNvSpPr>
            <a:spLocks noGrp="1"/>
          </p:cNvSpPr>
          <p:nvPr/>
        </p:nvSpPr>
        <p:spPr>
          <a:xfrm>
            <a:off x="108585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▤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1EE92C-D13C-4BBA-87BB-A2488FE83ED3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Business</a:t>
            </a:r>
          </a:p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systems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A967EC-054F-4851-B812-59B89DC5F8CD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03440C-31F8-441C-BA9C-EAC9685815BF}"/>
              </a:ext>
            </a:extLst>
          </p:cNvPr>
          <p:cNvSpPr>
            <a:spLocks noGrp="1"/>
          </p:cNvSpPr>
          <p:nvPr/>
        </p:nvSpPr>
        <p:spPr>
          <a:xfrm>
            <a:off x="194310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8BAF08-48AA-44F1-BA78-8E1E88963BBA}"/>
              </a:ext>
            </a:extLst>
          </p:cNvPr>
          <p:cNvSpPr>
            <a:spLocks noGrp="1"/>
          </p:cNvSpPr>
          <p:nvPr/>
        </p:nvSpPr>
        <p:spPr>
          <a:xfrm>
            <a:off x="219075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DB22A0-CC66-4392-BB57-F906E04C4BAE}"/>
              </a:ext>
            </a:extLst>
          </p:cNvPr>
          <p:cNvSpPr>
            <a:spLocks noGrp="1"/>
          </p:cNvSpPr>
          <p:nvPr/>
        </p:nvSpPr>
        <p:spPr>
          <a:xfrm>
            <a:off x="266700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C3B70C-E4FF-4910-B60A-BB1207778A83}"/>
              </a:ext>
            </a:extLst>
          </p:cNvPr>
          <p:cNvSpPr>
            <a:spLocks noGrp="1"/>
          </p:cNvSpPr>
          <p:nvPr/>
        </p:nvSpPr>
        <p:spPr>
          <a:xfrm>
            <a:off x="266700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◉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63FA31-C30F-4FDC-ADDA-48A3B95AFADD}"/>
              </a:ext>
            </a:extLst>
          </p:cNvPr>
          <p:cNvSpPr>
            <a:spLocks noGrp="1"/>
          </p:cNvSpPr>
          <p:nvPr/>
        </p:nvSpPr>
        <p:spPr>
          <a:xfrm>
            <a:off x="228600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Data</a:t>
            </a:r>
          </a:p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0AC16A-5079-4C9B-9A00-A6B0616A2FCC}"/>
              </a:ext>
            </a:extLst>
          </p:cNvPr>
          <p:cNvSpPr>
            <a:spLocks noGrp="1"/>
          </p:cNvSpPr>
          <p:nvPr/>
        </p:nvSpPr>
        <p:spPr>
          <a:xfrm>
            <a:off x="230505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B8B267-BE7E-460D-880D-EB722FB44E2B}"/>
              </a:ext>
            </a:extLst>
          </p:cNvPr>
          <p:cNvSpPr>
            <a:spLocks noGrp="1"/>
          </p:cNvSpPr>
          <p:nvPr/>
        </p:nvSpPr>
        <p:spPr>
          <a:xfrm>
            <a:off x="352425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8B5A0FD-EBFE-4F58-8FB1-273886B0E12E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F4C9F4E-D126-4BBC-9DE1-693127D66371}"/>
              </a:ext>
            </a:extLst>
          </p:cNvPr>
          <p:cNvSpPr>
            <a:spLocks noGrp="1"/>
          </p:cNvSpPr>
          <p:nvPr/>
        </p:nvSpPr>
        <p:spPr>
          <a:xfrm>
            <a:off x="424815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BA85B9-D30B-4124-A4CE-D724ED94AC6E}"/>
              </a:ext>
            </a:extLst>
          </p:cNvPr>
          <p:cNvSpPr>
            <a:spLocks noGrp="1"/>
          </p:cNvSpPr>
          <p:nvPr/>
        </p:nvSpPr>
        <p:spPr>
          <a:xfrm>
            <a:off x="424815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F877F4-9615-49BA-B608-56D020223418}"/>
              </a:ext>
            </a:extLst>
          </p:cNvPr>
          <p:cNvSpPr>
            <a:spLocks noGrp="1"/>
          </p:cNvSpPr>
          <p:nvPr/>
        </p:nvSpPr>
        <p:spPr>
          <a:xfrm>
            <a:off x="38671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AE3887-08E6-4918-B1E2-AB766C7EE1A9}"/>
              </a:ext>
            </a:extLst>
          </p:cNvPr>
          <p:cNvSpPr>
            <a:spLocks noGrp="1"/>
          </p:cNvSpPr>
          <p:nvPr/>
        </p:nvSpPr>
        <p:spPr>
          <a:xfrm>
            <a:off x="388620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ABDBD-7670-47C2-9694-F77D689DD6DA}"/>
              </a:ext>
            </a:extLst>
          </p:cNvPr>
          <p:cNvSpPr>
            <a:spLocks noGrp="1"/>
          </p:cNvSpPr>
          <p:nvPr/>
        </p:nvSpPr>
        <p:spPr>
          <a:xfrm>
            <a:off x="510540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3F8F59-E8EC-4788-BB50-E11CA7EEC10A}"/>
              </a:ext>
            </a:extLst>
          </p:cNvPr>
          <p:cNvSpPr>
            <a:spLocks noGrp="1"/>
          </p:cNvSpPr>
          <p:nvPr/>
        </p:nvSpPr>
        <p:spPr>
          <a:xfrm>
            <a:off x="535305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AA9F6F-8FDF-418E-A1D5-D0A3D431FC42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B0C72C-161B-49F0-9122-A79D24173CC0}"/>
              </a:ext>
            </a:extLst>
          </p:cNvPr>
          <p:cNvSpPr>
            <a:spLocks noGrp="1"/>
          </p:cNvSpPr>
          <p:nvPr/>
        </p:nvSpPr>
        <p:spPr>
          <a:xfrm>
            <a:off x="582930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7F7417-D41D-4BB1-BB94-3169A8D86BB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Tables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DC76D8-9D4A-4D64-9090-BBEE3AB37CCE}"/>
              </a:ext>
            </a:extLst>
          </p:cNvPr>
          <p:cNvSpPr>
            <a:spLocks noGrp="1"/>
          </p:cNvSpPr>
          <p:nvPr/>
        </p:nvSpPr>
        <p:spPr>
          <a:xfrm>
            <a:off x="546735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8F6836-CE0D-4CFA-958C-FBFEFB5AE8EC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7C585F1-4F6B-4887-BC9B-0CA4C7DE1840}"/>
              </a:ext>
            </a:extLst>
          </p:cNvPr>
          <p:cNvSpPr>
            <a:spLocks noGrp="1"/>
          </p:cNvSpPr>
          <p:nvPr/>
        </p:nvSpPr>
        <p:spPr>
          <a:xfrm>
            <a:off x="693420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00875A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5E08F80-8644-43D7-ABA8-203090E1E410}"/>
              </a:ext>
            </a:extLst>
          </p:cNvPr>
          <p:cNvSpPr>
            <a:spLocks noGrp="1"/>
          </p:cNvSpPr>
          <p:nvPr/>
        </p:nvSpPr>
        <p:spPr>
          <a:xfrm>
            <a:off x="741045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90951F-12FD-42BE-84CF-0E557F8A921D}"/>
              </a:ext>
            </a:extLst>
          </p:cNvPr>
          <p:cNvSpPr>
            <a:spLocks noGrp="1"/>
          </p:cNvSpPr>
          <p:nvPr/>
        </p:nvSpPr>
        <p:spPr>
          <a:xfrm>
            <a:off x="741045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▣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F09D97-77D6-4CC6-B5B4-8BEA058475D0}"/>
              </a:ext>
            </a:extLst>
          </p:cNvPr>
          <p:cNvSpPr>
            <a:spLocks noGrp="1"/>
          </p:cNvSpPr>
          <p:nvPr/>
        </p:nvSpPr>
        <p:spPr>
          <a:xfrm>
            <a:off x="70294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Metabase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F7C02F-BFDA-4C6A-9190-6E5080EC79C4}"/>
              </a:ext>
            </a:extLst>
          </p:cNvPr>
          <p:cNvSpPr>
            <a:spLocks noGrp="1"/>
          </p:cNvSpPr>
          <p:nvPr/>
        </p:nvSpPr>
        <p:spPr>
          <a:xfrm>
            <a:off x="704850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4E7B6B-98F3-450C-BC00-2A405D901EA0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A200A47-C5EF-494D-B980-620FE186E7AF}"/>
              </a:ext>
            </a:extLst>
          </p:cNvPr>
          <p:cNvSpPr>
            <a:spLocks noGrp="1"/>
          </p:cNvSpPr>
          <p:nvPr/>
        </p:nvSpPr>
        <p:spPr>
          <a:xfrm>
            <a:off x="851535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00875A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86F55D-AAEA-44E5-A6F4-7D37643605DF}"/>
              </a:ext>
            </a:extLst>
          </p:cNvPr>
          <p:cNvSpPr>
            <a:spLocks noGrp="1"/>
          </p:cNvSpPr>
          <p:nvPr/>
        </p:nvSpPr>
        <p:spPr>
          <a:xfrm>
            <a:off x="899160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FFE855-A3F6-4BE7-8B52-D5902C801492}"/>
              </a:ext>
            </a:extLst>
          </p:cNvPr>
          <p:cNvSpPr>
            <a:spLocks noGrp="1"/>
          </p:cNvSpPr>
          <p:nvPr/>
        </p:nvSpPr>
        <p:spPr>
          <a:xfrm>
            <a:off x="899160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8E4276-3D59-4C75-B35C-C66F24A50F14}"/>
              </a:ext>
            </a:extLst>
          </p:cNvPr>
          <p:cNvSpPr>
            <a:spLocks noGrp="1"/>
          </p:cNvSpPr>
          <p:nvPr/>
        </p:nvSpPr>
        <p:spPr>
          <a:xfrm>
            <a:off x="861060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5820F29-ABB3-4188-A94D-F54AF55307C7}"/>
              </a:ext>
            </a:extLst>
          </p:cNvPr>
          <p:cNvSpPr>
            <a:spLocks noGrp="1"/>
          </p:cNvSpPr>
          <p:nvPr/>
        </p:nvSpPr>
        <p:spPr>
          <a:xfrm>
            <a:off x="862965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033899-AD5F-4001-85C5-A336955F20B8}"/>
              </a:ext>
            </a:extLst>
          </p:cNvPr>
          <p:cNvSpPr>
            <a:spLocks noGrp="1"/>
          </p:cNvSpPr>
          <p:nvPr/>
        </p:nvSpPr>
        <p:spPr>
          <a:xfrm>
            <a:off x="9848850" y="2914650"/>
            <a:ext cx="190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ctr">
              <a:defRPr sz="120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393E510-31EF-4023-8418-3DCA6A0F5DF5}"/>
              </a:ext>
            </a:extLst>
          </p:cNvPr>
          <p:cNvSpPr>
            <a:spLocks noGrp="1"/>
          </p:cNvSpPr>
          <p:nvPr/>
        </p:nvSpPr>
        <p:spPr>
          <a:xfrm>
            <a:off x="10096500" y="2457450"/>
            <a:ext cx="1295400" cy="1095375"/>
          </a:xfrm>
          <a:prstGeom prst="roundRect">
            <a:avLst>
              <a:gd name="adj" fmla="val 10435"/>
            </a:avLst>
          </a:prstGeom>
          <a:solidFill>
            <a:srgbClr val="00875A"/>
          </a:solidFill>
          <a:ln w="9525">
            <a:solidFill>
              <a:srgbClr val="00875A"/>
            </a:solidFill>
            <a:prstDash val="solid"/>
          </a:ln>
        </p:spPr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AE7140-CF4F-4E1B-9ACC-DE491B30B906}"/>
              </a:ext>
            </a:extLst>
          </p:cNvPr>
          <p:cNvSpPr>
            <a:spLocks noGrp="1"/>
          </p:cNvSpPr>
          <p:nvPr/>
        </p:nvSpPr>
        <p:spPr>
          <a:xfrm>
            <a:off x="10572750" y="2609850"/>
            <a:ext cx="333375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36278E-503C-464C-85F3-CB135C9132C2}"/>
              </a:ext>
            </a:extLst>
          </p:cNvPr>
          <p:cNvSpPr>
            <a:spLocks noGrp="1"/>
          </p:cNvSpPr>
          <p:nvPr/>
        </p:nvSpPr>
        <p:spPr>
          <a:xfrm>
            <a:off x="10572750" y="2695575"/>
            <a:ext cx="333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A2F33AF-7E06-40B2-94B8-42A413F19C57}"/>
              </a:ext>
            </a:extLst>
          </p:cNvPr>
          <p:cNvSpPr>
            <a:spLocks noGrp="1"/>
          </p:cNvSpPr>
          <p:nvPr/>
        </p:nvSpPr>
        <p:spPr>
          <a:xfrm>
            <a:off x="101917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A7076B1-A808-45AD-9827-1ACEBF51D2DE}"/>
              </a:ext>
            </a:extLst>
          </p:cNvPr>
          <p:cNvSpPr>
            <a:spLocks noGrp="1"/>
          </p:cNvSpPr>
          <p:nvPr/>
        </p:nvSpPr>
        <p:spPr>
          <a:xfrm>
            <a:off x="10210800" y="3343275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6C13DDE-23E8-4EBA-8859-B5015BC72C6F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3524250" cy="990600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E60FB42-E54D-41FE-8555-63811D70D03A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1714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LAYER 01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8338CD7-415D-4CDF-8A6A-740FD86FB141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Operational sources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F38A484-66A4-4D27-96F6-90046A76F997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853"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Business systems generate raw signals — transactions, users, accounts, and partners.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35536D9-180D-4A78-98B9-1A201A85CFB6}"/>
              </a:ext>
            </a:extLst>
          </p:cNvPr>
          <p:cNvSpPr>
            <a:spLocks noGrp="1"/>
          </p:cNvSpPr>
          <p:nvPr/>
        </p:nvSpPr>
        <p:spPr>
          <a:xfrm>
            <a:off x="4267200" y="3848100"/>
            <a:ext cx="3524250" cy="990600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88A7B9-4C7B-4419-8731-2F51FA4C6834}"/>
              </a:ext>
            </a:extLst>
          </p:cNvPr>
          <p:cNvSpPr>
            <a:spLocks noGrp="1"/>
          </p:cNvSpPr>
          <p:nvPr/>
        </p:nvSpPr>
        <p:spPr>
          <a:xfrm>
            <a:off x="4438650" y="4019550"/>
            <a:ext cx="1714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LAYER 02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484064-5A3A-4FB4-9A03-67ABCA01795B}"/>
              </a:ext>
            </a:extLst>
          </p:cNvPr>
          <p:cNvSpPr>
            <a:spLocks noGrp="1"/>
          </p:cNvSpPr>
          <p:nvPr/>
        </p:nvSpPr>
        <p:spPr>
          <a:xfrm>
            <a:off x="4438650" y="42195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Processing &amp; modeling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6388C7-BA2E-4B95-9D91-7A1F7A95FFC3}"/>
              </a:ext>
            </a:extLst>
          </p:cNvPr>
          <p:cNvSpPr>
            <a:spLocks noGrp="1"/>
          </p:cNvSpPr>
          <p:nvPr/>
        </p:nvSpPr>
        <p:spPr>
          <a:xfrm>
            <a:off x="4438650" y="442912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853"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Data is ingested, cleaned, transformed, and structured into analytics-ready tables.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2F2B3E8-5959-452C-AD69-CF8973A7FA28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524250" cy="990600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4572400-A583-4724-81F1-C3827855520B}"/>
              </a:ext>
            </a:extLst>
          </p:cNvPr>
          <p:cNvSpPr>
            <a:spLocks noGrp="1"/>
          </p:cNvSpPr>
          <p:nvPr/>
        </p:nvSpPr>
        <p:spPr>
          <a:xfrm>
            <a:off x="8096250" y="4019550"/>
            <a:ext cx="1714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LAYER 03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A6D8BD-74F3-43C0-A33C-00F0EBBA702F}"/>
              </a:ext>
            </a:extLst>
          </p:cNvPr>
          <p:cNvSpPr>
            <a:spLocks noGrp="1"/>
          </p:cNvSpPr>
          <p:nvPr/>
        </p:nvSpPr>
        <p:spPr>
          <a:xfrm>
            <a:off x="8096250" y="4219575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Analytics &amp; decisions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025EA4-0800-40A9-8160-F8EB984EE913}"/>
              </a:ext>
            </a:extLst>
          </p:cNvPr>
          <p:cNvSpPr>
            <a:spLocks noGrp="1"/>
          </p:cNvSpPr>
          <p:nvPr/>
        </p:nvSpPr>
        <p:spPr>
          <a:xfrm>
            <a:off x="8096250" y="4429125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853"/>
          </a:bodyPr>
          <a:lstStyle/>
          <a:p>
            <a:pPr algn="l">
              <a:lnSpc>
                <a:spcPct val="120000"/>
              </a:lnSpc>
              <a:buNone/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Metabase surfaces dashboards that drive business, product, and operational decisions.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B3B4F48-32BF-48CB-9E57-2BE23F3FD716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10972800" cy="419100"/>
          </a:xfrm>
          <a:prstGeom prst="roundRect">
            <a:avLst>
              <a:gd name="adj" fmla="val 27273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69D39AE-71BE-4EF6-AB4A-453C16C1C5FF}"/>
              </a:ext>
            </a:extLst>
          </p:cNvPr>
          <p:cNvSpPr>
            <a:spLocks noGrp="1"/>
          </p:cNvSpPr>
          <p:nvPr/>
        </p:nvSpPr>
        <p:spPr>
          <a:xfrm>
            <a:off x="695325" y="5143500"/>
            <a:ext cx="285750" cy="285750"/>
          </a:xfrm>
          <a:prstGeom prst="ellipse">
            <a:avLst/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E8278A4-0BF0-4EAE-AD69-081E2E726E75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B212B81-3920-42AB-9F62-F5931E6359B7}"/>
              </a:ext>
            </a:extLst>
          </p:cNvPr>
          <p:cNvSpPr>
            <a:spLocks noGrp="1"/>
          </p:cNvSpPr>
          <p:nvPr/>
        </p:nvSpPr>
        <p:spPr>
          <a:xfrm>
            <a:off x="1076325" y="5200650"/>
            <a:ext cx="666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Soliman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BF71E0-0201-4C54-925B-5431D2E74154}"/>
              </a:ext>
            </a:extLst>
          </p:cNvPr>
          <p:cNvSpPr>
            <a:spLocks noGrp="1"/>
          </p:cNvSpPr>
          <p:nvPr/>
        </p:nvSpPr>
        <p:spPr>
          <a:xfrm>
            <a:off x="1752600" y="5200650"/>
            <a:ext cx="5905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— guided my understanding of the full data flow, end to end.</a:t>
            </a:r>
          </a:p>
        </p:txBody>
      </p:sp>
    </p:spTree>
    <p:extLst>
      <p:ext uri="{BB962C8B-B14F-4D97-AF65-F5344CB8AC3E}">
        <p14:creationId xmlns:p14="http://schemas.microsoft.com/office/powerpoint/2010/main" val="161443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0BFEF674-A0BF-403A-85C3-0B2F75BE81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6F7056C-E478-4773-A860-FA2E168EC53A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2D9518-0FEB-4C9A-9943-DC4041092F21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BD8D0-8DB8-461E-BC9F-316CA210DE13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7DADA-5251-4CB0-9BC4-91A24779BB12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06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DF3A-740E-4E8D-9B1F-27E5CFEE3E8A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WHY DATA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82864-9B93-4C66-BE64-8A5697671DA2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29F6710-5789-43C9-9BF4-6A1DD22763F0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30F62-5C02-467D-AF86-DEE8561B219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482D494-EEA6-4FAB-B23D-759C9D74EC6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37E74-10C5-482C-8197-438C003A3DD1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05 · WHY IT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6CA11-FDED-496E-9D32-DB5555E6B73F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From raw signals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to business value.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B3620B-4C6E-476E-A9E2-075DB9A12DA4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Data is the connective tissue between operations and strategy — informing decisions, planning, and product direction.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A990E8-B2B6-47A7-9D0C-95F6C161B634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257300" cy="1476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ACE2D-0457-4B5A-8E42-765CA9D70DBB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7BF64BD-8E3C-404D-88A3-C494C991C76B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5365D9-2961-4155-AB26-19578EC55658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5761FD-2929-4914-88E0-5973B77BF086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Better decisions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702A45-E62B-4BCF-B90A-1DC6B99D3E05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4"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Replace intuition with evidence across teams.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A5C880-7E5F-4E06-AC29-84A43818CFEF}"/>
              </a:ext>
            </a:extLst>
          </p:cNvPr>
          <p:cNvSpPr>
            <a:spLocks noGrp="1"/>
          </p:cNvSpPr>
          <p:nvPr/>
        </p:nvSpPr>
        <p:spPr>
          <a:xfrm>
            <a:off x="1981200" y="2419350"/>
            <a:ext cx="1257300" cy="1476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25DE2-1190-4B91-93AF-ED7BE965F208}"/>
              </a:ext>
            </a:extLst>
          </p:cNvPr>
          <p:cNvSpPr>
            <a:spLocks noGrp="1"/>
          </p:cNvSpPr>
          <p:nvPr/>
        </p:nvSpPr>
        <p:spPr>
          <a:xfrm>
            <a:off x="2133600" y="257175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1122B7-03D5-4C8C-A9D1-86E106B036B4}"/>
              </a:ext>
            </a:extLst>
          </p:cNvPr>
          <p:cNvSpPr>
            <a:spLocks noGrp="1"/>
          </p:cNvSpPr>
          <p:nvPr/>
        </p:nvSpPr>
        <p:spPr>
          <a:xfrm>
            <a:off x="2133600" y="2771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355554-92E2-470C-AB49-8AE35751D6F3}"/>
              </a:ext>
            </a:extLst>
          </p:cNvPr>
          <p:cNvSpPr>
            <a:spLocks noGrp="1"/>
          </p:cNvSpPr>
          <p:nvPr/>
        </p:nvSpPr>
        <p:spPr>
          <a:xfrm>
            <a:off x="2133600" y="28384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008EF8-F1DF-4EF8-B259-55951515DAA5}"/>
              </a:ext>
            </a:extLst>
          </p:cNvPr>
          <p:cNvSpPr>
            <a:spLocks noGrp="1"/>
          </p:cNvSpPr>
          <p:nvPr/>
        </p:nvSpPr>
        <p:spPr>
          <a:xfrm>
            <a:off x="2133600" y="3238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Business planning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E47DBA-3739-45E1-BFED-A43E0C30B633}"/>
              </a:ext>
            </a:extLst>
          </p:cNvPr>
          <p:cNvSpPr>
            <a:spLocks noGrp="1"/>
          </p:cNvSpPr>
          <p:nvPr/>
        </p:nvSpPr>
        <p:spPr>
          <a:xfrm>
            <a:off x="21336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4"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Forecast and allocate with confidence.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72C2FAF-6AC6-4B96-9226-2930F6F78680}"/>
              </a:ext>
            </a:extLst>
          </p:cNvPr>
          <p:cNvSpPr>
            <a:spLocks noGrp="1"/>
          </p:cNvSpPr>
          <p:nvPr/>
        </p:nvSpPr>
        <p:spPr>
          <a:xfrm>
            <a:off x="3352800" y="2419350"/>
            <a:ext cx="1257300" cy="1476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6DA0A0-C8B9-40E7-BCB3-9A2546E03491}"/>
              </a:ext>
            </a:extLst>
          </p:cNvPr>
          <p:cNvSpPr>
            <a:spLocks noGrp="1"/>
          </p:cNvSpPr>
          <p:nvPr/>
        </p:nvSpPr>
        <p:spPr>
          <a:xfrm>
            <a:off x="3505200" y="257175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AB46610-15CA-47E3-8AA0-C2285A5369DF}"/>
              </a:ext>
            </a:extLst>
          </p:cNvPr>
          <p:cNvSpPr>
            <a:spLocks noGrp="1"/>
          </p:cNvSpPr>
          <p:nvPr/>
        </p:nvSpPr>
        <p:spPr>
          <a:xfrm>
            <a:off x="3505200" y="2771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D1A518-C7BE-46E4-B0C9-750D44F0FF32}"/>
              </a:ext>
            </a:extLst>
          </p:cNvPr>
          <p:cNvSpPr>
            <a:spLocks noGrp="1"/>
          </p:cNvSpPr>
          <p:nvPr/>
        </p:nvSpPr>
        <p:spPr>
          <a:xfrm>
            <a:off x="3505200" y="28384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⚙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FF6F62-4555-47A5-A9FC-6148C405CE24}"/>
              </a:ext>
            </a:extLst>
          </p:cNvPr>
          <p:cNvSpPr>
            <a:spLocks noGrp="1"/>
          </p:cNvSpPr>
          <p:nvPr/>
        </p:nvSpPr>
        <p:spPr>
          <a:xfrm>
            <a:off x="3505200" y="3238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Operational improvements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08F55A-466E-48DD-9A9D-BF69164A05C5}"/>
              </a:ext>
            </a:extLst>
          </p:cNvPr>
          <p:cNvSpPr>
            <a:spLocks noGrp="1"/>
          </p:cNvSpPr>
          <p:nvPr/>
        </p:nvSpPr>
        <p:spPr>
          <a:xfrm>
            <a:off x="35052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4"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Find bottlenecks and remove them.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8000A56-8CBA-4801-8DAA-CB0636A87E70}"/>
              </a:ext>
            </a:extLst>
          </p:cNvPr>
          <p:cNvSpPr>
            <a:spLocks noGrp="1"/>
          </p:cNvSpPr>
          <p:nvPr/>
        </p:nvSpPr>
        <p:spPr>
          <a:xfrm>
            <a:off x="4724400" y="2419350"/>
            <a:ext cx="1257300" cy="1476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AFE64C-0B66-46E5-A716-563C40DE0672}"/>
              </a:ext>
            </a:extLst>
          </p:cNvPr>
          <p:cNvSpPr>
            <a:spLocks noGrp="1"/>
          </p:cNvSpPr>
          <p:nvPr/>
        </p:nvSpPr>
        <p:spPr>
          <a:xfrm>
            <a:off x="4876800" y="257175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26F86F9-C014-41D1-985F-13D1CBD02979}"/>
              </a:ext>
            </a:extLst>
          </p:cNvPr>
          <p:cNvSpPr>
            <a:spLocks noGrp="1"/>
          </p:cNvSpPr>
          <p:nvPr/>
        </p:nvSpPr>
        <p:spPr>
          <a:xfrm>
            <a:off x="4876800" y="2771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EB0C1C-68A2-48D3-868D-87AB4E7530FA}"/>
              </a:ext>
            </a:extLst>
          </p:cNvPr>
          <p:cNvSpPr>
            <a:spLocks noGrp="1"/>
          </p:cNvSpPr>
          <p:nvPr/>
        </p:nvSpPr>
        <p:spPr>
          <a:xfrm>
            <a:off x="4876800" y="28384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▣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078519-2383-4E5A-8A78-B5B839F6F45D}"/>
              </a:ext>
            </a:extLst>
          </p:cNvPr>
          <p:cNvSpPr>
            <a:spLocks noGrp="1"/>
          </p:cNvSpPr>
          <p:nvPr/>
        </p:nvSpPr>
        <p:spPr>
          <a:xfrm>
            <a:off x="4876800" y="3238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Product strategy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1DC06E-7B34-48BA-A73B-A5C345D0BD55}"/>
              </a:ext>
            </a:extLst>
          </p:cNvPr>
          <p:cNvSpPr>
            <a:spLocks noGrp="1"/>
          </p:cNvSpPr>
          <p:nvPr/>
        </p:nvSpPr>
        <p:spPr>
          <a:xfrm>
            <a:off x="48768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4"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Shape roadmap around real usage signals.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578221C-050A-4C24-9637-5DB8F30A17D2}"/>
              </a:ext>
            </a:extLst>
          </p:cNvPr>
          <p:cNvSpPr>
            <a:spLocks noGrp="1"/>
          </p:cNvSpPr>
          <p:nvPr/>
        </p:nvSpPr>
        <p:spPr>
          <a:xfrm>
            <a:off x="6096000" y="2419350"/>
            <a:ext cx="1257300" cy="1476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1D834C-13E0-413F-AFB9-15C1F10C7855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F9307E2-3DC8-4861-B11D-4E366F20D5CD}"/>
              </a:ext>
            </a:extLst>
          </p:cNvPr>
          <p:cNvSpPr>
            <a:spLocks noGrp="1"/>
          </p:cNvSpPr>
          <p:nvPr/>
        </p:nvSpPr>
        <p:spPr>
          <a:xfrm>
            <a:off x="6248400" y="2771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F3B262-919C-4A27-B1A9-DE6C9DF8AC7F}"/>
              </a:ext>
            </a:extLst>
          </p:cNvPr>
          <p:cNvSpPr>
            <a:spLocks noGrp="1"/>
          </p:cNvSpPr>
          <p:nvPr/>
        </p:nvSpPr>
        <p:spPr>
          <a:xfrm>
            <a:off x="6248400" y="28384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80EFBB-B2BB-4456-AB04-A79B57E06B01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Future growth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6AF162-C4F1-4C08-A9E2-92FE9966186E}"/>
              </a:ext>
            </a:extLst>
          </p:cNvPr>
          <p:cNvSpPr>
            <a:spLocks noGrp="1"/>
          </p:cNvSpPr>
          <p:nvPr/>
        </p:nvSpPr>
        <p:spPr>
          <a:xfrm>
            <a:off x="62484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4"/>
          </a:bodyPr>
          <a:lstStyle/>
          <a:p>
            <a:pPr algn="l">
              <a:lnSpc>
                <a:spcPct val="120000"/>
              </a:lnSpc>
              <a:buNone/>
              <a:defRPr sz="788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Scale intelligently with measurable foundations.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A65E19A-EC62-4516-89D5-56E4A7354EDB}"/>
              </a:ext>
            </a:extLst>
          </p:cNvPr>
          <p:cNvSpPr>
            <a:spLocks noGrp="1"/>
          </p:cNvSpPr>
          <p:nvPr/>
        </p:nvSpPr>
        <p:spPr>
          <a:xfrm>
            <a:off x="7658100" y="2419350"/>
            <a:ext cx="3924300" cy="1476375"/>
          </a:xfrm>
          <a:prstGeom prst="roundRect">
            <a:avLst>
              <a:gd name="adj" fmla="val 7742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4C376D-4CF7-4F06-8D59-7625B87227D6}"/>
              </a:ext>
            </a:extLst>
          </p:cNvPr>
          <p:cNvSpPr>
            <a:spLocks noGrp="1"/>
          </p:cNvSpPr>
          <p:nvPr/>
        </p:nvSpPr>
        <p:spPr>
          <a:xfrm>
            <a:off x="7867650" y="2590800"/>
            <a:ext cx="2381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THE VALUE TRANSFORMATION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A103E44-DD7C-40A2-9A4B-DF2CB945327F}"/>
              </a:ext>
            </a:extLst>
          </p:cNvPr>
          <p:cNvSpPr>
            <a:spLocks noGrp="1"/>
          </p:cNvSpPr>
          <p:nvPr/>
        </p:nvSpPr>
        <p:spPr>
          <a:xfrm>
            <a:off x="7867650" y="2857500"/>
            <a:ext cx="2095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121"/>
          </a:bodyPr>
          <a:lstStyle/>
          <a:p>
            <a:pPr algn="l">
              <a:defRPr sz="16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C65AF0-C8BD-48C6-BBEA-FFDA1F797BBB}"/>
              </a:ext>
            </a:extLst>
          </p:cNvPr>
          <p:cNvSpPr>
            <a:spLocks noGrp="1"/>
          </p:cNvSpPr>
          <p:nvPr/>
        </p:nvSpPr>
        <p:spPr>
          <a:xfrm>
            <a:off x="7867650" y="316230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46"/>
          </a:bodyPr>
          <a:lstStyle/>
          <a:p>
            <a:pPr algn="l">
              <a:lnSpc>
                <a:spcPct val="125000"/>
              </a:lnSpc>
              <a:buNone/>
              <a:defRPr sz="90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The destination: measurable impact that compounds across the business.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53C452D-F91A-4424-9750-1C61D3598E30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0ECBF36-1CC4-430E-B187-1FAFD631283C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C8E1FA-8AC0-4CDA-BB16-1D634F1E3F9F}"/>
              </a:ext>
            </a:extLst>
          </p:cNvPr>
          <p:cNvSpPr>
            <a:spLocks noGrp="1"/>
          </p:cNvSpPr>
          <p:nvPr/>
        </p:nvSpPr>
        <p:spPr>
          <a:xfrm>
            <a:off x="70485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998601-07D8-449A-BA65-C0957DE35F68}"/>
              </a:ext>
            </a:extLst>
          </p:cNvPr>
          <p:cNvSpPr>
            <a:spLocks noGrp="1"/>
          </p:cNvSpPr>
          <p:nvPr/>
        </p:nvSpPr>
        <p:spPr>
          <a:xfrm>
            <a:off x="2190750" y="46958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B256803-B07D-45B8-842B-49049AD72591}"/>
              </a:ext>
            </a:extLst>
          </p:cNvPr>
          <p:cNvSpPr>
            <a:spLocks noGrp="1"/>
          </p:cNvSpPr>
          <p:nvPr/>
        </p:nvSpPr>
        <p:spPr>
          <a:xfrm>
            <a:off x="241935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1C9BD5-AC07-4D65-BCF8-8725EFD8BA9F}"/>
              </a:ext>
            </a:extLst>
          </p:cNvPr>
          <p:cNvSpPr>
            <a:spLocks noGrp="1"/>
          </p:cNvSpPr>
          <p:nvPr/>
        </p:nvSpPr>
        <p:spPr>
          <a:xfrm>
            <a:off x="251460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Cleaned data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662B40-FA6F-420F-9784-81E17D6DFC7D}"/>
              </a:ext>
            </a:extLst>
          </p:cNvPr>
          <p:cNvSpPr>
            <a:spLocks noGrp="1"/>
          </p:cNvSpPr>
          <p:nvPr/>
        </p:nvSpPr>
        <p:spPr>
          <a:xfrm>
            <a:off x="251460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Trusted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2DB329-7DF5-4440-9419-7E23ED5F4C17}"/>
              </a:ext>
            </a:extLst>
          </p:cNvPr>
          <p:cNvSpPr>
            <a:spLocks noGrp="1"/>
          </p:cNvSpPr>
          <p:nvPr/>
        </p:nvSpPr>
        <p:spPr>
          <a:xfrm>
            <a:off x="4000500" y="46958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DE20C6-9E17-48B3-A0BF-D9D132EB860C}"/>
              </a:ext>
            </a:extLst>
          </p:cNvPr>
          <p:cNvSpPr>
            <a:spLocks noGrp="1"/>
          </p:cNvSpPr>
          <p:nvPr/>
        </p:nvSpPr>
        <p:spPr>
          <a:xfrm>
            <a:off x="422910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1FB544-0DB2-4992-8EAA-E083CC0BF285}"/>
              </a:ext>
            </a:extLst>
          </p:cNvPr>
          <p:cNvSpPr>
            <a:spLocks noGrp="1"/>
          </p:cNvSpPr>
          <p:nvPr/>
        </p:nvSpPr>
        <p:spPr>
          <a:xfrm>
            <a:off x="432435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Modeled data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F28E2-76EB-4744-8136-AA5C0F9BA9E2}"/>
              </a:ext>
            </a:extLst>
          </p:cNvPr>
          <p:cNvSpPr>
            <a:spLocks noGrp="1"/>
          </p:cNvSpPr>
          <p:nvPr/>
        </p:nvSpPr>
        <p:spPr>
          <a:xfrm>
            <a:off x="432435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Structured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EF5A9C-B690-46AE-A77D-8CDA6F60C429}"/>
              </a:ext>
            </a:extLst>
          </p:cNvPr>
          <p:cNvSpPr>
            <a:spLocks noGrp="1"/>
          </p:cNvSpPr>
          <p:nvPr/>
        </p:nvSpPr>
        <p:spPr>
          <a:xfrm>
            <a:off x="5810250" y="46958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234AF07-A7E6-47E9-8239-B1B0A0EAA727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3D0577-5183-40FA-8943-F998136284CE}"/>
              </a:ext>
            </a:extLst>
          </p:cNvPr>
          <p:cNvSpPr>
            <a:spLocks noGrp="1"/>
          </p:cNvSpPr>
          <p:nvPr/>
        </p:nvSpPr>
        <p:spPr>
          <a:xfrm>
            <a:off x="613410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Actionable insights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48A2F2-054E-4E33-BC10-BFDA0705AC06}"/>
              </a:ext>
            </a:extLst>
          </p:cNvPr>
          <p:cNvSpPr>
            <a:spLocks noGrp="1"/>
          </p:cNvSpPr>
          <p:nvPr/>
        </p:nvSpPr>
        <p:spPr>
          <a:xfrm>
            <a:off x="613410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Visible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B8F286-114E-40A1-85A1-2F6B82A008B3}"/>
              </a:ext>
            </a:extLst>
          </p:cNvPr>
          <p:cNvSpPr>
            <a:spLocks noGrp="1"/>
          </p:cNvSpPr>
          <p:nvPr/>
        </p:nvSpPr>
        <p:spPr>
          <a:xfrm>
            <a:off x="7620000" y="46958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7A5BF44-6AA6-4DB7-8CC5-A4F922361A01}"/>
              </a:ext>
            </a:extLst>
          </p:cNvPr>
          <p:cNvSpPr>
            <a:spLocks noGrp="1"/>
          </p:cNvSpPr>
          <p:nvPr/>
        </p:nvSpPr>
        <p:spPr>
          <a:xfrm>
            <a:off x="784860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DA22F6C-1391-43E0-BF24-44E0F90E3054}"/>
              </a:ext>
            </a:extLst>
          </p:cNvPr>
          <p:cNvSpPr>
            <a:spLocks noGrp="1"/>
          </p:cNvSpPr>
          <p:nvPr/>
        </p:nvSpPr>
        <p:spPr>
          <a:xfrm>
            <a:off x="794385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Business decisions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E999048-A482-45AE-97C3-A332A6C661FA}"/>
              </a:ext>
            </a:extLst>
          </p:cNvPr>
          <p:cNvSpPr>
            <a:spLocks noGrp="1"/>
          </p:cNvSpPr>
          <p:nvPr/>
        </p:nvSpPr>
        <p:spPr>
          <a:xfrm>
            <a:off x="794385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Aligned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8A5F041-EDFA-4B05-93D5-F40F333CCB5B}"/>
              </a:ext>
            </a:extLst>
          </p:cNvPr>
          <p:cNvSpPr>
            <a:spLocks noGrp="1"/>
          </p:cNvSpPr>
          <p:nvPr/>
        </p:nvSpPr>
        <p:spPr>
          <a:xfrm>
            <a:off x="9429750" y="46958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254780F-0C48-4C67-A01F-3EAFE88448E5}"/>
              </a:ext>
            </a:extLst>
          </p:cNvPr>
          <p:cNvSpPr>
            <a:spLocks noGrp="1"/>
          </p:cNvSpPr>
          <p:nvPr/>
        </p:nvSpPr>
        <p:spPr>
          <a:xfrm>
            <a:off x="9658350" y="4371975"/>
            <a:ext cx="1581150" cy="904875"/>
          </a:xfrm>
          <a:prstGeom prst="roundRect">
            <a:avLst>
              <a:gd name="adj" fmla="val 12632"/>
            </a:avLst>
          </a:prstGeom>
          <a:solidFill>
            <a:srgbClr val="00875A"/>
          </a:solidFill>
          <a:ln w="9525">
            <a:solidFill>
              <a:srgbClr val="0087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4873BA-07BD-4553-AE6D-FE79F73536BC}"/>
              </a:ext>
            </a:extLst>
          </p:cNvPr>
          <p:cNvSpPr>
            <a:spLocks noGrp="1"/>
          </p:cNvSpPr>
          <p:nvPr/>
        </p:nvSpPr>
        <p:spPr>
          <a:xfrm>
            <a:off x="9753600" y="459105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08E0451-E7DC-4338-AAEB-123007950D21}"/>
              </a:ext>
            </a:extLst>
          </p:cNvPr>
          <p:cNvSpPr>
            <a:spLocks noGrp="1"/>
          </p:cNvSpPr>
          <p:nvPr/>
        </p:nvSpPr>
        <p:spPr>
          <a:xfrm>
            <a:off x="9753600" y="4829175"/>
            <a:ext cx="13906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 i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rPr>
              <a:t>Compounding impact</a:t>
            </a:r>
          </a:p>
        </p:txBody>
      </p:sp>
    </p:spTree>
    <p:extLst>
      <p:ext uri="{BB962C8B-B14F-4D97-AF65-F5344CB8AC3E}">
        <p14:creationId xmlns:p14="http://schemas.microsoft.com/office/powerpoint/2010/main" val="164662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0010448-99A5-4D25-8D01-5F0F6CBFC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3B6FC4D-EC92-4182-90DA-D5F93BFE51D0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57C941-541C-4C8B-9169-15AC02C5CEF8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33ACC-C9C3-4D76-92E3-0ED8B4E0F724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9B9098-26BD-4520-95DE-0A6B0E723D47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07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CD3988-D707-4641-9811-FF42A5E2416F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HOW I CAN CONTRIBUTE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135309-E48A-49B4-80C4-F5572433DE69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1027D4F-F49C-4F3A-B55F-3540234FCA25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174B481-F149-4D77-8F87-C851483E5193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E8D8B06-E9CE-446A-8EB6-FBC95F9E852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501C12-FA1D-4E6B-97B9-1EB212B6218A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06 ·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9D10D5-2ABE-4C6A-AD19-9F2B17F7708B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How I can contribute</a:t>
            </a:r>
          </a:p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going forward.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AD1C8B-CA9B-4955-B7F0-2C6E02658590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A blend of technical capability and business awareness — turning data into decisions that move Connect Money forward.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C84212-4347-4DBA-871B-F5789B0EB890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5372100" cy="2838450"/>
          </a:xfrm>
          <a:prstGeom prst="roundRect">
            <a:avLst>
              <a:gd name="adj" fmla="val 5369"/>
            </a:avLst>
          </a:prstGeom>
          <a:solidFill>
            <a:srgbClr val="F4F6F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87CADA-2D8D-4A97-913F-1B94080A8BE7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Technical skills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52C9D-9515-4C9B-AFD1-836209E3C479}"/>
              </a:ext>
            </a:extLst>
          </p:cNvPr>
          <p:cNvSpPr>
            <a:spLocks noGrp="1"/>
          </p:cNvSpPr>
          <p:nvPr/>
        </p:nvSpPr>
        <p:spPr>
          <a:xfrm>
            <a:off x="4705350" y="2695575"/>
            <a:ext cx="1047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ACDC763-1657-4FF8-B74A-BE2B90D25B77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49149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1DE5B6-7130-42BA-850B-E5F9515C35B8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2512A-1632-4C78-8949-084EB0D25B77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◉  SQL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169DF6E-5CE0-45EE-9AEB-8F81FC04AA28}"/>
              </a:ext>
            </a:extLst>
          </p:cNvPr>
          <p:cNvSpPr>
            <a:spLocks noGrp="1"/>
          </p:cNvSpPr>
          <p:nvPr/>
        </p:nvSpPr>
        <p:spPr>
          <a:xfrm>
            <a:off x="3314700" y="323850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41A9BE-89F7-4BED-87BF-40693D6472BC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✦  Python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53B520A-2A05-43EE-9874-C8F27D59BEC3}"/>
              </a:ext>
            </a:extLst>
          </p:cNvPr>
          <p:cNvSpPr>
            <a:spLocks noGrp="1"/>
          </p:cNvSpPr>
          <p:nvPr/>
        </p:nvSpPr>
        <p:spPr>
          <a:xfrm>
            <a:off x="838200" y="366712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325440-E2D0-445D-9230-495A7D25A23A}"/>
              </a:ext>
            </a:extLst>
          </p:cNvPr>
          <p:cNvSpPr>
            <a:spLocks noGrp="1"/>
          </p:cNvSpPr>
          <p:nvPr/>
        </p:nvSpPr>
        <p:spPr>
          <a:xfrm>
            <a:off x="952500" y="376237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▣  Power BI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E61F44-1301-4EEF-B54E-31865DB3CA9D}"/>
              </a:ext>
            </a:extLst>
          </p:cNvPr>
          <p:cNvSpPr>
            <a:spLocks noGrp="1"/>
          </p:cNvSpPr>
          <p:nvPr/>
        </p:nvSpPr>
        <p:spPr>
          <a:xfrm>
            <a:off x="3314700" y="366712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FB29CB-A735-4B89-99FD-FAC3409E4387}"/>
              </a:ext>
            </a:extLst>
          </p:cNvPr>
          <p:cNvSpPr>
            <a:spLocks noGrp="1"/>
          </p:cNvSpPr>
          <p:nvPr/>
        </p:nvSpPr>
        <p:spPr>
          <a:xfrm>
            <a:off x="3429000" y="376237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↗  Business Intelligence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2EE65C-2E19-4A9F-90C0-F8D0BFEE9D10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5F0E1D-5861-4BE6-9FF3-3D205F35B889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◎  Data analysis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03D0174-FBB1-4B6C-8B29-6D43B5163DDB}"/>
              </a:ext>
            </a:extLst>
          </p:cNvPr>
          <p:cNvSpPr>
            <a:spLocks noGrp="1"/>
          </p:cNvSpPr>
          <p:nvPr/>
        </p:nvSpPr>
        <p:spPr>
          <a:xfrm>
            <a:off x="3314700" y="409575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D6AB9E-A3C3-483E-8A97-3D5443DA2E2B}"/>
              </a:ext>
            </a:extLst>
          </p:cNvPr>
          <p:cNvSpPr>
            <a:spLocks noGrp="1"/>
          </p:cNvSpPr>
          <p:nvPr/>
        </p:nvSpPr>
        <p:spPr>
          <a:xfrm>
            <a:off x="3429000" y="419100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▦  Data Eng. basics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534FE6E-D3F3-4C76-AFBF-F6BA6B66B77E}"/>
              </a:ext>
            </a:extLst>
          </p:cNvPr>
          <p:cNvSpPr>
            <a:spLocks noGrp="1"/>
          </p:cNvSpPr>
          <p:nvPr/>
        </p:nvSpPr>
        <p:spPr>
          <a:xfrm>
            <a:off x="838200" y="452437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C5911D-2D0B-4527-B161-E8CEA84A28E8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✓  Problem solving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CA2A72C-329C-4346-97D9-3A4B1D45083D}"/>
              </a:ext>
            </a:extLst>
          </p:cNvPr>
          <p:cNvSpPr>
            <a:spLocks noGrp="1"/>
          </p:cNvSpPr>
          <p:nvPr/>
        </p:nvSpPr>
        <p:spPr>
          <a:xfrm>
            <a:off x="3314700" y="452437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943C4B-AAA4-4A78-B4BE-D0E08378467A}"/>
              </a:ext>
            </a:extLst>
          </p:cNvPr>
          <p:cNvSpPr>
            <a:spLocks noGrp="1"/>
          </p:cNvSpPr>
          <p:nvPr/>
        </p:nvSpPr>
        <p:spPr>
          <a:xfrm>
            <a:off x="3429000" y="461962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◇  Systems thinking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9E79BBA-E509-4F1C-9E95-2330A72F4053}"/>
              </a:ext>
            </a:extLst>
          </p:cNvPr>
          <p:cNvSpPr>
            <a:spLocks noGrp="1"/>
          </p:cNvSpPr>
          <p:nvPr/>
        </p:nvSpPr>
        <p:spPr>
          <a:xfrm>
            <a:off x="6210300" y="2428875"/>
            <a:ext cx="5372100" cy="2838450"/>
          </a:xfrm>
          <a:prstGeom prst="roundRect">
            <a:avLst>
              <a:gd name="adj" fmla="val 5369"/>
            </a:avLst>
          </a:prstGeom>
          <a:solidFill>
            <a:srgbClr val="E6F4EF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191CF2-7C68-40FF-9114-E8CC2AC41484}"/>
              </a:ext>
            </a:extLst>
          </p:cNvPr>
          <p:cNvSpPr>
            <a:spLocks noGrp="1"/>
          </p:cNvSpPr>
          <p:nvPr/>
        </p:nvSpPr>
        <p:spPr>
          <a:xfrm>
            <a:off x="6438900" y="26670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A994D9-57B0-468F-9C1C-BFDC686FF6B5}"/>
              </a:ext>
            </a:extLst>
          </p:cNvPr>
          <p:cNvSpPr>
            <a:spLocks noGrp="1"/>
          </p:cNvSpPr>
          <p:nvPr/>
        </p:nvSpPr>
        <p:spPr>
          <a:xfrm>
            <a:off x="10306050" y="2695575"/>
            <a:ext cx="1047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CE71272A-1FE0-4149-BB6D-112716FC01AD}"/>
              </a:ext>
            </a:extLst>
          </p:cNvPr>
          <p:cNvSpPr>
            <a:spLocks noGrp="1"/>
          </p:cNvSpPr>
          <p:nvPr/>
        </p:nvSpPr>
        <p:spPr>
          <a:xfrm>
            <a:off x="6438900" y="3009900"/>
            <a:ext cx="4914900" cy="0"/>
          </a:xfrm>
          <a:prstGeom prst="line">
            <a:avLst/>
          </a:prstGeom>
          <a:noFill/>
          <a:ln w="9525">
            <a:solidFill>
              <a:srgbClr val="BFE3D4"/>
            </a:solidFill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35394E3-2053-46E8-B7E2-70E246BB3312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8F5A3E-ABB8-4E49-9042-FA98839E03B0}"/>
              </a:ext>
            </a:extLst>
          </p:cNvPr>
          <p:cNvSpPr>
            <a:spLocks noGrp="1"/>
          </p:cNvSpPr>
          <p:nvPr/>
        </p:nvSpPr>
        <p:spPr>
          <a:xfrm>
            <a:off x="6553200" y="333375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✓  Support decisions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7E7A071-F09D-41A0-8CFC-AB307AB45CF0}"/>
              </a:ext>
            </a:extLst>
          </p:cNvPr>
          <p:cNvSpPr>
            <a:spLocks noGrp="1"/>
          </p:cNvSpPr>
          <p:nvPr/>
        </p:nvSpPr>
        <p:spPr>
          <a:xfrm>
            <a:off x="8915400" y="323850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EBB20C-CCF9-436A-8E48-B7833F3F4F9C}"/>
              </a:ext>
            </a:extLst>
          </p:cNvPr>
          <p:cNvSpPr>
            <a:spLocks noGrp="1"/>
          </p:cNvSpPr>
          <p:nvPr/>
        </p:nvSpPr>
        <p:spPr>
          <a:xfrm>
            <a:off x="9029700" y="333375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◎  Identify opportunities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97896F7-D52B-4C25-AF9A-B3E69EE3E26A}"/>
              </a:ext>
            </a:extLst>
          </p:cNvPr>
          <p:cNvSpPr>
            <a:spLocks noGrp="1"/>
          </p:cNvSpPr>
          <p:nvPr/>
        </p:nvSpPr>
        <p:spPr>
          <a:xfrm>
            <a:off x="6438900" y="366712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2A2A7C-22E2-45BC-AB80-A8BC10FFFCF9}"/>
              </a:ext>
            </a:extLst>
          </p:cNvPr>
          <p:cNvSpPr>
            <a:spLocks noGrp="1"/>
          </p:cNvSpPr>
          <p:nvPr/>
        </p:nvSpPr>
        <p:spPr>
          <a:xfrm>
            <a:off x="6553200" y="376237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◉  Analyze customer behavior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1D859A8-5523-4F53-914C-A8D146D7567C}"/>
              </a:ext>
            </a:extLst>
          </p:cNvPr>
          <p:cNvSpPr>
            <a:spLocks noGrp="1"/>
          </p:cNvSpPr>
          <p:nvPr/>
        </p:nvSpPr>
        <p:spPr>
          <a:xfrm>
            <a:off x="8915400" y="366712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57A16A-4FFE-4359-B7CD-FD1CFE33EA5A}"/>
              </a:ext>
            </a:extLst>
          </p:cNvPr>
          <p:cNvSpPr>
            <a:spLocks noGrp="1"/>
          </p:cNvSpPr>
          <p:nvPr/>
        </p:nvSpPr>
        <p:spPr>
          <a:xfrm>
            <a:off x="9029700" y="376237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▣  Build dashboards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AC81D79-DEAE-4D0E-9CA9-67830A76DA19}"/>
              </a:ext>
            </a:extLst>
          </p:cNvPr>
          <p:cNvSpPr>
            <a:spLocks noGrp="1"/>
          </p:cNvSpPr>
          <p:nvPr/>
        </p:nvSpPr>
        <p:spPr>
          <a:xfrm>
            <a:off x="6438900" y="409575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A8484D-9493-488E-85BC-A7D6ED55C678}"/>
              </a:ext>
            </a:extLst>
          </p:cNvPr>
          <p:cNvSpPr>
            <a:spLocks noGrp="1"/>
          </p:cNvSpPr>
          <p:nvPr/>
        </p:nvSpPr>
        <p:spPr>
          <a:xfrm>
            <a:off x="6553200" y="419100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↗  Improve reporting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961CDCF-3CBF-4ACF-8C49-8CB15AD3AC15}"/>
              </a:ext>
            </a:extLst>
          </p:cNvPr>
          <p:cNvSpPr>
            <a:spLocks noGrp="1"/>
          </p:cNvSpPr>
          <p:nvPr/>
        </p:nvSpPr>
        <p:spPr>
          <a:xfrm>
            <a:off x="8915400" y="4095750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1F485A-6B6B-47FA-AB48-DF089FB6CD90}"/>
              </a:ext>
            </a:extLst>
          </p:cNvPr>
          <p:cNvSpPr>
            <a:spLocks noGrp="1"/>
          </p:cNvSpPr>
          <p:nvPr/>
        </p:nvSpPr>
        <p:spPr>
          <a:xfrm>
            <a:off x="9029700" y="4191000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⚙  Solve ops challenges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EAA8E94-7CA0-474A-BA56-B5D5347AAE34}"/>
              </a:ext>
            </a:extLst>
          </p:cNvPr>
          <p:cNvSpPr>
            <a:spLocks noGrp="1"/>
          </p:cNvSpPr>
          <p:nvPr/>
        </p:nvSpPr>
        <p:spPr>
          <a:xfrm>
            <a:off x="6438900" y="452437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DBF57BD-59A5-49D5-83BB-EEC42A6809E3}"/>
              </a:ext>
            </a:extLst>
          </p:cNvPr>
          <p:cNvSpPr>
            <a:spLocks noGrp="1"/>
          </p:cNvSpPr>
          <p:nvPr/>
        </p:nvSpPr>
        <p:spPr>
          <a:xfrm>
            <a:off x="6553200" y="461962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◇  Support future planning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3243EEA-A580-401D-B990-1781507BC881}"/>
              </a:ext>
            </a:extLst>
          </p:cNvPr>
          <p:cNvSpPr>
            <a:spLocks noGrp="1"/>
          </p:cNvSpPr>
          <p:nvPr/>
        </p:nvSpPr>
        <p:spPr>
          <a:xfrm>
            <a:off x="8915400" y="4524375"/>
            <a:ext cx="23241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FE3D4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C82796-7BF8-4DC2-9778-9363228F46A4}"/>
              </a:ext>
            </a:extLst>
          </p:cNvPr>
          <p:cNvSpPr>
            <a:spLocks noGrp="1"/>
          </p:cNvSpPr>
          <p:nvPr/>
        </p:nvSpPr>
        <p:spPr>
          <a:xfrm>
            <a:off x="9029700" y="461962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≋  Recommend improvements</a:t>
            </a:r>
          </a:p>
        </p:txBody>
      </p:sp>
    </p:spTree>
    <p:extLst>
      <p:ext uri="{BB962C8B-B14F-4D97-AF65-F5344CB8AC3E}">
        <p14:creationId xmlns:p14="http://schemas.microsoft.com/office/powerpoint/2010/main" val="11669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F922493-597A-47C4-B1FA-A0F6ECDBB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953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EC6CBF9-D83B-40A5-BDF2-E3CA91B6B4E2}"/>
              </a:ext>
            </a:extLst>
          </p:cNvPr>
          <p:cNvSpPr>
            <a:spLocks noGrp="1"/>
          </p:cNvSpPr>
          <p:nvPr/>
        </p:nvSpPr>
        <p:spPr>
          <a:xfrm>
            <a:off x="0" y="6953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90500"/>
            <a:ext cx="304800" cy="3048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F62344-26E9-4DAA-8154-A0B60593D619}"/>
              </a:ext>
            </a:extLst>
          </p:cNvPr>
          <p:cNvSpPr>
            <a:spLocks noGrp="1"/>
          </p:cNvSpPr>
          <p:nvPr/>
        </p:nvSpPr>
        <p:spPr>
          <a:xfrm>
            <a:off x="800100" y="200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DDB62-CF11-4A56-A683-2E495838B71E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Internship Reflection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5D9892-79D7-4675-A988-59C03267491D}"/>
              </a:ext>
            </a:extLst>
          </p:cNvPr>
          <p:cNvSpPr>
            <a:spLocks noGrp="1"/>
          </p:cNvSpPr>
          <p:nvPr/>
        </p:nvSpPr>
        <p:spPr>
          <a:xfrm>
            <a:off x="10763250" y="266700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08  / 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318AD-FB63-4EAB-8DC7-50751722A7C2}"/>
              </a:ext>
            </a:extLst>
          </p:cNvPr>
          <p:cNvSpPr>
            <a:spLocks noGrp="1"/>
          </p:cNvSpPr>
          <p:nvPr/>
        </p:nvSpPr>
        <p:spPr>
          <a:xfrm>
            <a:off x="8896350" y="6438900"/>
            <a:ext cx="2895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LOOKING AHEAD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0B5BB3-233F-43C8-A469-ADA956A8CEA8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D7164B2-721D-4DF4-AFAA-CCCCA9195CAE}"/>
              </a:ext>
            </a:extLst>
          </p:cNvPr>
          <p:cNvSpPr>
            <a:spLocks noGrp="1"/>
          </p:cNvSpPr>
          <p:nvPr/>
        </p:nvSpPr>
        <p:spPr>
          <a:xfrm>
            <a:off x="0" y="6372225"/>
            <a:ext cx="12192000" cy="0"/>
          </a:xfrm>
          <a:prstGeom prst="line">
            <a:avLst/>
          </a:prstGeom>
          <a:noFill/>
          <a:ln w="9525">
            <a:solidFill>
              <a:srgbClr val="E4E9E8"/>
            </a:solidFill>
            <a:prstDash val="solid"/>
          </a:ln>
        </p:spPr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6534150"/>
            <a:ext cx="152400" cy="152400"/>
          </a:xfrm>
          <a:prstGeom prst="roundRect">
            <a:avLst>
              <a:gd name="adj" fmla="val 1250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A43E61-A3D5-496D-9465-3687367093DD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CONNECT MONEY · INTERNSHIP REFLECTION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F0CA547-BEBE-4930-9EE4-66959626124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1450" cy="0"/>
          </a:xfrm>
          <a:prstGeom prst="line">
            <a:avLst/>
          </a:prstGeom>
          <a:noFill/>
          <a:ln w="9525">
            <a:solidFill>
              <a:srgbClr val="00875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1F4427-8D71-4EBA-9E49-BE85A5C4647B}"/>
              </a:ext>
            </a:extLst>
          </p:cNvPr>
          <p:cNvSpPr>
            <a:spLocks noGrp="1"/>
          </p:cNvSpPr>
          <p:nvPr/>
        </p:nvSpPr>
        <p:spPr>
          <a:xfrm>
            <a:off x="866775" y="9906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875A"/>
                </a:solidFill>
                <a:latin typeface="Aptos"/>
                <a:ea typeface="Aptos"/>
                <a:cs typeface="Aptos"/>
              </a:rPr>
              <a:t>CHAPTER 07 · FINAL REFLECTION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DAF39-6012-4887-903B-930B24A3193D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Looking ahead.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96720-4AD5-4C4C-81DB-6B4878BCA5E6}"/>
              </a:ext>
            </a:extLst>
          </p:cNvPr>
          <p:cNvSpPr>
            <a:spLocks noGrp="1"/>
          </p:cNvSpPr>
          <p:nvPr/>
        </p:nvSpPr>
        <p:spPr>
          <a:xfrm>
            <a:off x="8191500" y="1409700"/>
            <a:ext cx="3381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r">
              <a:lnSpc>
                <a:spcPct val="120000"/>
              </a:lnSpc>
              <a:buNone/>
              <a:defRPr sz="1200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As Connect Money scales, data will sit at the center of every decision — and the Data Team must scale with it.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8D75FE-C8C4-4912-8EFC-D8FB50983F01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10972800" cy="2905125"/>
          </a:xfrm>
          <a:prstGeom prst="roundRect">
            <a:avLst>
              <a:gd name="adj" fmla="val 7869"/>
            </a:avLst>
          </a:prstGeom>
          <a:gradFill>
            <a:gsLst>
              <a:gs pos="0">
                <a:srgbClr val="0F1B1A"/>
              </a:gs>
              <a:gs pos="100000">
                <a:srgbClr val="05603F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6443B1-A32C-4859-8EEC-549BF8BCD4B5}"/>
              </a:ext>
            </a:extLst>
          </p:cNvPr>
          <p:cNvSpPr>
            <a:spLocks noGrp="1"/>
          </p:cNvSpPr>
          <p:nvPr/>
        </p:nvSpPr>
        <p:spPr>
          <a:xfrm>
            <a:off x="9334500" y="666750"/>
            <a:ext cx="3429000" cy="3429000"/>
          </a:xfrm>
          <a:prstGeom prst="ellipse">
            <a:avLst/>
          </a:prstGeom>
          <a:solidFill>
            <a:srgbClr val="00875A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9EEBE54-8CF7-44A4-9856-026A856B2736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171450" cy="0"/>
          </a:xfrm>
          <a:prstGeom prst="line">
            <a:avLst/>
          </a:prstGeom>
          <a:noFill/>
          <a:ln w="9525">
            <a:solidFill>
              <a:srgbClr val="7FD9B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5F96C-E335-44BF-AE44-03E186EA8C55}"/>
              </a:ext>
            </a:extLst>
          </p:cNvPr>
          <p:cNvSpPr>
            <a:spLocks noGrp="1"/>
          </p:cNvSpPr>
          <p:nvPr/>
        </p:nvSpPr>
        <p:spPr>
          <a:xfrm>
            <a:off x="1323975" y="27432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THE ROAD AHEAD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0001A5-605C-406E-8BA9-50C926DBFE4D}"/>
              </a:ext>
            </a:extLst>
          </p:cNvPr>
          <p:cNvSpPr>
            <a:spLocks noGrp="1"/>
          </p:cNvSpPr>
          <p:nvPr/>
        </p:nvSpPr>
        <p:spPr>
          <a:xfrm>
            <a:off x="1066800" y="3038475"/>
            <a:ext cx="5381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877"/>
          </a:bodyPr>
          <a:lstStyle/>
          <a:p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will become</a:t>
            </a:r>
          </a:p>
          <a:p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operating layer</a:t>
            </a:r>
          </a:p>
          <a:p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of Connect Money.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B9A663-4A01-45D8-8A35-5B5D162C8451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525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050" b="0" i="0">
                <a:solidFill>
                  <a:srgbClr val="D9E8E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9E8E3"/>
                </a:solidFill>
                <a:latin typeface="Aptos"/>
                <a:ea typeface="Aptos"/>
                <a:cs typeface="Aptos"/>
              </a:rPr>
              <a:t>As the company continues to scale, an expanded Data Team will be essential — supporting faster decisions, sharper operations, and stronger product innovation.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1290705-F8F0-4308-97B9-F4EA63205146}"/>
              </a:ext>
            </a:extLst>
          </p:cNvPr>
          <p:cNvSpPr>
            <a:spLocks noGrp="1"/>
          </p:cNvSpPr>
          <p:nvPr/>
        </p:nvSpPr>
        <p:spPr>
          <a:xfrm>
            <a:off x="7562850" y="2714625"/>
            <a:ext cx="3238500" cy="419100"/>
          </a:xfrm>
          <a:prstGeom prst="roundRect">
            <a:avLst>
              <a:gd name="adj" fmla="val 4545"/>
            </a:avLst>
          </a:prstGeom>
          <a:solidFill>
            <a:srgbClr val="FFFFFF">
              <a:alpha val="4000"/>
            </a:srgbClr>
          </a:solidFill>
          <a:ln w="0">
            <a:noFill/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B8A1E8-D256-4AA0-BD4C-60A690BB6CB4}"/>
              </a:ext>
            </a:extLst>
          </p:cNvPr>
          <p:cNvSpPr>
            <a:spLocks noGrp="1"/>
          </p:cNvSpPr>
          <p:nvPr/>
        </p:nvSpPr>
        <p:spPr>
          <a:xfrm>
            <a:off x="7677150" y="27622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9C69CF-7AFC-4A1E-AC8B-7C61C68D5FC3}"/>
              </a:ext>
            </a:extLst>
          </p:cNvPr>
          <p:cNvSpPr>
            <a:spLocks noGrp="1"/>
          </p:cNvSpPr>
          <p:nvPr/>
        </p:nvSpPr>
        <p:spPr>
          <a:xfrm>
            <a:off x="7677150" y="2847975"/>
            <a:ext cx="32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78"/>
          </a:bodyPr>
          <a:lstStyle/>
          <a:p>
            <a:pPr algn="ctr">
              <a:defRPr sz="1125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0131BE-4B87-4DBF-BC5F-56B5727CD93D}"/>
              </a:ext>
            </a:extLst>
          </p:cNvPr>
          <p:cNvSpPr>
            <a:spLocks noGrp="1"/>
          </p:cNvSpPr>
          <p:nvPr/>
        </p:nvSpPr>
        <p:spPr>
          <a:xfrm>
            <a:off x="8134350" y="2790825"/>
            <a:ext cx="238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61FF8A-21D2-4635-8F39-6253B531C26C}"/>
              </a:ext>
            </a:extLst>
          </p:cNvPr>
          <p:cNvSpPr>
            <a:spLocks noGrp="1"/>
          </p:cNvSpPr>
          <p:nvPr/>
        </p:nvSpPr>
        <p:spPr>
          <a:xfrm>
            <a:off x="8134350" y="2952750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rPr>
              <a:t>SCALING WITH THE BUSINESS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F8690B-855C-46AF-806C-58B64BF506F6}"/>
              </a:ext>
            </a:extLst>
          </p:cNvPr>
          <p:cNvSpPr>
            <a:spLocks noGrp="1"/>
          </p:cNvSpPr>
          <p:nvPr/>
        </p:nvSpPr>
        <p:spPr>
          <a:xfrm>
            <a:off x="7562850" y="3238500"/>
            <a:ext cx="3238500" cy="419100"/>
          </a:xfrm>
          <a:prstGeom prst="roundRect">
            <a:avLst>
              <a:gd name="adj" fmla="val 4545"/>
            </a:avLst>
          </a:prstGeom>
          <a:solidFill>
            <a:srgbClr val="FFFFFF">
              <a:alpha val="4000"/>
            </a:srgbClr>
          </a:solidFill>
          <a:ln w="0">
            <a:noFill/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3DE3558-5F84-47EF-9CB2-1748749C666D}"/>
              </a:ext>
            </a:extLst>
          </p:cNvPr>
          <p:cNvSpPr>
            <a:spLocks noGrp="1"/>
          </p:cNvSpPr>
          <p:nvPr/>
        </p:nvSpPr>
        <p:spPr>
          <a:xfrm>
            <a:off x="7677150" y="32861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4C6B0-9D08-466C-92B9-25EAC3DB7BE5}"/>
              </a:ext>
            </a:extLst>
          </p:cNvPr>
          <p:cNvSpPr>
            <a:spLocks noGrp="1"/>
          </p:cNvSpPr>
          <p:nvPr/>
        </p:nvSpPr>
        <p:spPr>
          <a:xfrm>
            <a:off x="7677150" y="3371850"/>
            <a:ext cx="32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78"/>
          </a:bodyPr>
          <a:lstStyle/>
          <a:p>
            <a:pPr algn="ctr">
              <a:defRPr sz="1125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C11F05-A3AB-489E-B357-BF8517FEA356}"/>
              </a:ext>
            </a:extLst>
          </p:cNvPr>
          <p:cNvSpPr>
            <a:spLocks noGrp="1"/>
          </p:cNvSpPr>
          <p:nvPr/>
        </p:nvSpPr>
        <p:spPr>
          <a:xfrm>
            <a:off x="8134350" y="3314700"/>
            <a:ext cx="238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decision-making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2AE477-9267-4574-B63B-D0AFA5BDB300}"/>
              </a:ext>
            </a:extLst>
          </p:cNvPr>
          <p:cNvSpPr>
            <a:spLocks noGrp="1"/>
          </p:cNvSpPr>
          <p:nvPr/>
        </p:nvSpPr>
        <p:spPr>
          <a:xfrm>
            <a:off x="8134350" y="3476625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rPr>
              <a:t>EVIDENCE OVER INTUITION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11CA216-D470-40C1-91BA-DBFADD3D1CF3}"/>
              </a:ext>
            </a:extLst>
          </p:cNvPr>
          <p:cNvSpPr>
            <a:spLocks noGrp="1"/>
          </p:cNvSpPr>
          <p:nvPr/>
        </p:nvSpPr>
        <p:spPr>
          <a:xfrm>
            <a:off x="7562850" y="3762375"/>
            <a:ext cx="3238500" cy="419100"/>
          </a:xfrm>
          <a:prstGeom prst="roundRect">
            <a:avLst>
              <a:gd name="adj" fmla="val 4545"/>
            </a:avLst>
          </a:prstGeom>
          <a:solidFill>
            <a:srgbClr val="FFFFFF">
              <a:alpha val="4000"/>
            </a:srgbClr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21A437-F15A-41D0-9002-E2C57BBD89B6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CE56AC-674A-4941-8B86-6CBC83EA3EC8}"/>
              </a:ext>
            </a:extLst>
          </p:cNvPr>
          <p:cNvSpPr>
            <a:spLocks noGrp="1"/>
          </p:cNvSpPr>
          <p:nvPr/>
        </p:nvSpPr>
        <p:spPr>
          <a:xfrm>
            <a:off x="7677150" y="3895725"/>
            <a:ext cx="32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78"/>
          </a:bodyPr>
          <a:lstStyle/>
          <a:p>
            <a:pPr algn="ctr">
              <a:defRPr sz="1125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⚙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4669CC-DD38-4A8B-9634-F0ECDAD11494}"/>
              </a:ext>
            </a:extLst>
          </p:cNvPr>
          <p:cNvSpPr>
            <a:spLocks noGrp="1"/>
          </p:cNvSpPr>
          <p:nvPr/>
        </p:nvSpPr>
        <p:spPr>
          <a:xfrm>
            <a:off x="8134350" y="3838575"/>
            <a:ext cx="238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Operational excellence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93EA01-3252-42C4-9D1F-87C827C24D60}"/>
              </a:ext>
            </a:extLst>
          </p:cNvPr>
          <p:cNvSpPr>
            <a:spLocks noGrp="1"/>
          </p:cNvSpPr>
          <p:nvPr/>
        </p:nvSpPr>
        <p:spPr>
          <a:xfrm>
            <a:off x="8134350" y="4000500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rPr>
              <a:t>EFFICIENCY AT SCALE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732F7EB-3F61-4592-9DDA-BD9C51654FF7}"/>
              </a:ext>
            </a:extLst>
          </p:cNvPr>
          <p:cNvSpPr>
            <a:spLocks noGrp="1"/>
          </p:cNvSpPr>
          <p:nvPr/>
        </p:nvSpPr>
        <p:spPr>
          <a:xfrm>
            <a:off x="7562850" y="4286250"/>
            <a:ext cx="3238500" cy="419100"/>
          </a:xfrm>
          <a:prstGeom prst="roundRect">
            <a:avLst>
              <a:gd name="adj" fmla="val 4545"/>
            </a:avLst>
          </a:prstGeom>
          <a:solidFill>
            <a:srgbClr val="FFFFFF">
              <a:alpha val="4000"/>
            </a:srgbClr>
          </a:solidFill>
          <a:ln w="0">
            <a:noFill/>
            <a:prstDash val="solid"/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5CBF6CD-B46B-4647-B0F6-C577EC5C9D29}"/>
              </a:ext>
            </a:extLst>
          </p:cNvPr>
          <p:cNvSpPr>
            <a:spLocks noGrp="1"/>
          </p:cNvSpPr>
          <p:nvPr/>
        </p:nvSpPr>
        <p:spPr>
          <a:xfrm>
            <a:off x="7677150" y="4333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FB971B-53F8-4A50-950F-8B9B3BEDC778}"/>
              </a:ext>
            </a:extLst>
          </p:cNvPr>
          <p:cNvSpPr>
            <a:spLocks noGrp="1"/>
          </p:cNvSpPr>
          <p:nvPr/>
        </p:nvSpPr>
        <p:spPr>
          <a:xfrm>
            <a:off x="7677150" y="4419600"/>
            <a:ext cx="32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78"/>
          </a:bodyPr>
          <a:lstStyle/>
          <a:p>
            <a:pPr algn="ctr">
              <a:defRPr sz="1125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▣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EA7BC7-23E2-4FE7-B311-35EE423479C4}"/>
              </a:ext>
            </a:extLst>
          </p:cNvPr>
          <p:cNvSpPr>
            <a:spLocks noGrp="1"/>
          </p:cNvSpPr>
          <p:nvPr/>
        </p:nvSpPr>
        <p:spPr>
          <a:xfrm>
            <a:off x="8134350" y="4362450"/>
            <a:ext cx="238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innovation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0EA682-7FA5-4212-89FA-5C19955917A6}"/>
              </a:ext>
            </a:extLst>
          </p:cNvPr>
          <p:cNvSpPr>
            <a:spLocks noGrp="1"/>
          </p:cNvSpPr>
          <p:nvPr/>
        </p:nvSpPr>
        <p:spPr>
          <a:xfrm>
            <a:off x="8134350" y="4524375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FFFFFF">
                    <a:alpha val="63000"/>
                  </a:srgbClr>
                </a:solidFill>
                <a:latin typeface="Aptos"/>
                <a:ea typeface="Aptos"/>
                <a:cs typeface="Aptos"/>
              </a:rPr>
              <a:t>DATA-LED ROADMAP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A269CB-A0BA-4E52-90C8-2015D8C01125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50"/>
          </a:bodyPr>
          <a:lstStyle/>
          <a:p>
            <a:pPr algn="l">
              <a:lnSpc>
                <a:spcPct val="120000"/>
              </a:lnSpc>
              <a:buNone/>
              <a:defRPr sz="975" b="0" i="1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3A4948"/>
                </a:solidFill>
                <a:latin typeface="Aptos"/>
                <a:ea typeface="Aptos"/>
                <a:cs typeface="Aptos"/>
              </a:rPr>
              <a:t>“I’m excited to continue contributing to Connect Money’s future — bringing data-driven thinking to every decision, every product, and every partner we serve.”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264CF5-F7B7-42CC-AEEE-311133CF88D6}"/>
              </a:ext>
            </a:extLst>
          </p:cNvPr>
          <p:cNvSpPr>
            <a:spLocks noGrp="1"/>
          </p:cNvSpPr>
          <p:nvPr/>
        </p:nvSpPr>
        <p:spPr>
          <a:xfrm>
            <a:off x="9391650" y="5429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875A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388535-02F0-4CB7-8D67-C6C99C306B99}"/>
              </a:ext>
            </a:extLst>
          </p:cNvPr>
          <p:cNvSpPr>
            <a:spLocks noGrp="1"/>
          </p:cNvSpPr>
          <p:nvPr/>
        </p:nvSpPr>
        <p:spPr>
          <a:xfrm>
            <a:off x="9391650" y="5553075"/>
            <a:ext cx="381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AE7D60-C2B2-49E7-93CF-30FBFE39590D}"/>
              </a:ext>
            </a:extLst>
          </p:cNvPr>
          <p:cNvSpPr>
            <a:spLocks noGrp="1"/>
          </p:cNvSpPr>
          <p:nvPr/>
        </p:nvSpPr>
        <p:spPr>
          <a:xfrm>
            <a:off x="9886950" y="5476875"/>
            <a:ext cx="1524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Mohamed Emad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970F87-DE59-4A44-AC60-8EBF033D1D54}"/>
              </a:ext>
            </a:extLst>
          </p:cNvPr>
          <p:cNvSpPr>
            <a:spLocks noGrp="1"/>
          </p:cNvSpPr>
          <p:nvPr/>
        </p:nvSpPr>
        <p:spPr>
          <a:xfrm>
            <a:off x="9886950" y="5657850"/>
            <a:ext cx="1619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DATA INTERN · CONNECT MONEY</a:t>
            </a:r>
          </a:p>
        </p:txBody>
      </p:sp>
    </p:spTree>
    <p:extLst>
      <p:ext uri="{BB962C8B-B14F-4D97-AF65-F5344CB8AC3E}">
        <p14:creationId xmlns:p14="http://schemas.microsoft.com/office/powerpoint/2010/main" val="157770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92809EB-5D09-4E29-9F00-29ADE41A9373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rgbClr val="0F1B1A"/>
              </a:gs>
              <a:gs pos="100000">
                <a:srgbClr val="05603F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1E6AD5-88AF-4832-8E1D-8E6863BD941E}"/>
              </a:ext>
            </a:extLst>
          </p:cNvPr>
          <p:cNvSpPr>
            <a:spLocks noGrp="1"/>
          </p:cNvSpPr>
          <p:nvPr/>
        </p:nvSpPr>
        <p:spPr>
          <a:xfrm>
            <a:off x="8572500" y="4191000"/>
            <a:ext cx="5334000" cy="5334000"/>
          </a:xfrm>
          <a:prstGeom prst="ellipse">
            <a:avLst/>
          </a:prstGeom>
          <a:solidFill>
            <a:srgbClr val="FFFFFF">
              <a:alpha val="3000"/>
            </a:srgbClr>
          </a:solidFill>
          <a:ln w="0">
            <a:noFill/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666750"/>
            <a:ext cx="457200" cy="457200"/>
          </a:xfrm>
          <a:prstGeom prst="roundRect">
            <a:avLst>
              <a:gd name="adj" fmla="val 2500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352ECE-475B-427E-8449-D266084243C1}"/>
              </a:ext>
            </a:extLst>
          </p:cNvPr>
          <p:cNvSpPr>
            <a:spLocks noGrp="1"/>
          </p:cNvSpPr>
          <p:nvPr/>
        </p:nvSpPr>
        <p:spPr>
          <a:xfrm>
            <a:off x="1276350" y="714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Connect Money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C2881E-42E0-44EA-84B9-7A7BE3BDE30C}"/>
              </a:ext>
            </a:extLst>
          </p:cNvPr>
          <p:cNvSpPr>
            <a:spLocks noGrp="1"/>
          </p:cNvSpPr>
          <p:nvPr/>
        </p:nvSpPr>
        <p:spPr>
          <a:xfrm>
            <a:off x="1276350" y="962025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Embedded Finance · Banking-as-a-Service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1BD58-70D5-4C48-BB8F-FF4D8D86D426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667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00875A"/>
                </a:solidFill>
                <a:latin typeface="Aptos"/>
                <a:ea typeface="Aptos"/>
                <a:cs typeface="Aptos"/>
              </a:defRPr>
            </a:pPr>
            <a:r>
              <a:rPr sz="825" b="1" i="0" dirty="0">
                <a:solidFill>
                  <a:srgbClr val="00875A"/>
                </a:solidFill>
                <a:latin typeface="Aptos"/>
                <a:ea typeface="Aptos"/>
                <a:cs typeface="Aptos"/>
              </a:rPr>
              <a:t>END OF REFLECTION · 09 / 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973B7-AA40-4DF8-8307-E7C311C7461C}"/>
              </a:ext>
            </a:extLst>
          </p:cNvPr>
          <p:cNvSpPr>
            <a:spLocks noGrp="1"/>
          </p:cNvSpPr>
          <p:nvPr/>
        </p:nvSpPr>
        <p:spPr>
          <a:xfrm>
            <a:off x="685799" y="2409825"/>
            <a:ext cx="4410075" cy="1876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54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5400" b="1" i="0" dirty="0">
                <a:solidFill>
                  <a:srgbClr val="0F1B1A"/>
                </a:solidFill>
                <a:latin typeface="Aptos"/>
                <a:ea typeface="Aptos"/>
                <a:cs typeface="Aptos"/>
              </a:rPr>
              <a:t>Thank</a:t>
            </a:r>
          </a:p>
          <a:p>
            <a:pPr algn="l">
              <a:lnSpc>
                <a:spcPct val="90000"/>
              </a:lnSpc>
              <a:buNone/>
              <a:defRPr sz="54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5400" b="1" i="0" dirty="0">
                <a:solidFill>
                  <a:srgbClr val="0F1B1A"/>
                </a:solidFill>
                <a:latin typeface="Aptos"/>
                <a:ea typeface="Aptos"/>
                <a:cs typeface="Aptos"/>
              </a:rPr>
              <a:t>you</a:t>
            </a:r>
            <a:r>
              <a:rPr lang="en-US" sz="5400" b="1" i="0" dirty="0">
                <a:solidFill>
                  <a:srgbClr val="00875A"/>
                </a:solidFill>
                <a:latin typeface="Aptos"/>
                <a:ea typeface="Aptos"/>
                <a:cs typeface="Aptos"/>
              </a:rPr>
              <a:t>.</a:t>
            </a:r>
            <a:endParaRPr sz="5400" b="1" i="0" dirty="0">
              <a:solidFill>
                <a:srgbClr val="00CC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39115-E34F-4A71-8DC6-7AEBD35B6024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538"/>
          </a:bodyPr>
          <a:lstStyle/>
          <a:p>
            <a:pPr algn="l">
              <a:lnSpc>
                <a:spcPct val="140000"/>
              </a:lnSpc>
              <a:buNone/>
              <a:defRPr sz="1275" b="0" i="0">
                <a:solidFill>
                  <a:srgbClr val="3A494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A4948"/>
                </a:solidFill>
                <a:latin typeface="Aptos"/>
                <a:ea typeface="Aptos"/>
                <a:cs typeface="Aptos"/>
              </a:rPr>
              <a:t>For the trust, the mentorship, and the opportunity to learn from a team building the future of embedded finance.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0A364-0CEC-42A8-956C-BB19A198057F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1809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PREPARED FOR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D3528-DC65-47EA-99BE-E9730081A8A2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Ahmed Mazhar · Co-Founder &amp; CCO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FA100-18F5-4C91-AF28-A74B094D8407}"/>
              </a:ext>
            </a:extLst>
          </p:cNvPr>
          <p:cNvSpPr>
            <a:spLocks noGrp="1"/>
          </p:cNvSpPr>
          <p:nvPr/>
        </p:nvSpPr>
        <p:spPr>
          <a:xfrm>
            <a:off x="3028950" y="5457825"/>
            <a:ext cx="1809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REFLECTION BY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71B39-7AF7-40B2-8DD8-223CD00C53F6}"/>
              </a:ext>
            </a:extLst>
          </p:cNvPr>
          <p:cNvSpPr>
            <a:spLocks noGrp="1"/>
          </p:cNvSpPr>
          <p:nvPr/>
        </p:nvSpPr>
        <p:spPr>
          <a:xfrm>
            <a:off x="3028950" y="5629275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Mohamed Emad · Data Intern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8C23A1-7EC7-40A8-818A-35BB67CFD043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809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BCA947-CDC1-4F8A-A182-0957F7E286A7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Internship Reflection ·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276B20-9B71-4746-864D-D672B23A4A42}"/>
              </a:ext>
            </a:extLst>
          </p:cNvPr>
          <p:cNvSpPr>
            <a:spLocks noGrp="1"/>
          </p:cNvSpPr>
          <p:nvPr/>
        </p:nvSpPr>
        <p:spPr>
          <a:xfrm>
            <a:off x="3028950" y="6000750"/>
            <a:ext cx="1809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B777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B7775"/>
                </a:solidFill>
                <a:latin typeface="Aptos"/>
                <a:ea typeface="Aptos"/>
                <a:cs typeface="Aptos"/>
              </a:rPr>
              <a:t>NEXT CHAPTER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F430F-2086-4687-AC76-FE556BDA9419}"/>
              </a:ext>
            </a:extLst>
          </p:cNvPr>
          <p:cNvSpPr>
            <a:spLocks noGrp="1"/>
          </p:cNvSpPr>
          <p:nvPr/>
        </p:nvSpPr>
        <p:spPr>
          <a:xfrm>
            <a:off x="3028950" y="617220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Ready to contribute · Open to discussion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EA91A9-AE3C-4568-8460-A91848167913}"/>
              </a:ext>
            </a:extLst>
          </p:cNvPr>
          <p:cNvSpPr>
            <a:spLocks noGrp="1"/>
          </p:cNvSpPr>
          <p:nvPr/>
        </p:nvSpPr>
        <p:spPr>
          <a:xfrm>
            <a:off x="7191375" y="1533525"/>
            <a:ext cx="4000500" cy="3381375"/>
          </a:xfrm>
          <a:prstGeom prst="roundRect">
            <a:avLst>
              <a:gd name="adj" fmla="val 67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6C145A-0132-45E6-BBED-B98D0F8FD99B}"/>
              </a:ext>
            </a:extLst>
          </p:cNvPr>
          <p:cNvSpPr>
            <a:spLocks noGrp="1"/>
          </p:cNvSpPr>
          <p:nvPr/>
        </p:nvSpPr>
        <p:spPr>
          <a:xfrm>
            <a:off x="7524750" y="192405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7FD9B4"/>
                </a:solidFill>
                <a:latin typeface="Aptos"/>
                <a:ea typeface="Aptos"/>
                <a:cs typeface="Aptos"/>
              </a:rPr>
              <a:t>— A FINAL NOTE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86F225-3A1D-49E5-8CFD-2245D4A418E6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3333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715"/>
          </a:bodyPr>
          <a:lstStyle/>
          <a:p>
            <a:pPr algn="l">
              <a:lnSpc>
                <a:spcPct val="130000"/>
              </a:lnSpc>
              <a:buNone/>
              <a:defRPr sz="1350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“This internship wasn’t just about learning tools — it was about understanding how data shapes decisions at a company that’s redefining how finance is built.”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D8A383E-78EA-44BC-997B-132FF91C6025}"/>
              </a:ext>
            </a:extLst>
          </p:cNvPr>
          <p:cNvSpPr>
            <a:spLocks noGrp="1"/>
          </p:cNvSpPr>
          <p:nvPr/>
        </p:nvSpPr>
        <p:spPr>
          <a:xfrm>
            <a:off x="7524750" y="3638550"/>
            <a:ext cx="333375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3A465B-7757-4CF8-B37A-7FF5B11419C3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400050" cy="400050"/>
          </a:xfrm>
          <a:prstGeom prst="roundRect">
            <a:avLst>
              <a:gd name="adj" fmla="val 19048"/>
            </a:avLst>
          </a:prstGeom>
          <a:gradFill>
            <a:gsLst>
              <a:gs pos="0">
                <a:srgbClr val="00875A"/>
              </a:gs>
              <a:gs pos="100000">
                <a:srgbClr val="7FD9B4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E0DBD-DBA5-489F-BCC6-64335E625509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 i="0">
                <a:solidFill>
                  <a:srgbClr val="0F1B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1B1A"/>
                </a:solidFill>
                <a:latin typeface="Aptos"/>
                <a:ea typeface="Aptos"/>
                <a:cs typeface="Aptos"/>
              </a:rPr>
              <a:t>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40E274-CF37-42D9-B428-67B8423E3778}"/>
              </a:ext>
            </a:extLst>
          </p:cNvPr>
          <p:cNvSpPr>
            <a:spLocks noGrp="1"/>
          </p:cNvSpPr>
          <p:nvPr/>
        </p:nvSpPr>
        <p:spPr>
          <a:xfrm>
            <a:off x="8058150" y="3905250"/>
            <a:ext cx="1524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Mohamed Emad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02EC6E-02B2-4F80-94D0-345CD09D0512}"/>
              </a:ext>
            </a:extLst>
          </p:cNvPr>
          <p:cNvSpPr>
            <a:spLocks noGrp="1"/>
          </p:cNvSpPr>
          <p:nvPr/>
        </p:nvSpPr>
        <p:spPr>
          <a:xfrm>
            <a:off x="8058150" y="4095750"/>
            <a:ext cx="2095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FFFFFF">
                    <a:alpha val="55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>
                    <a:alpha val="55000"/>
                  </a:srgbClr>
                </a:solidFill>
                <a:latin typeface="Aptos"/>
                <a:ea typeface="Aptos"/>
                <a:cs typeface="Aptos"/>
              </a:rPr>
              <a:t>DATA INTERN · CONNECT MONEY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0A61811-F0E5-4BEB-A3E7-1306A94AEDF5}"/>
              </a:ext>
            </a:extLst>
          </p:cNvPr>
          <p:cNvSpPr>
            <a:spLocks noGrp="1"/>
          </p:cNvSpPr>
          <p:nvPr/>
        </p:nvSpPr>
        <p:spPr>
          <a:xfrm>
            <a:off x="7524750" y="4400550"/>
            <a:ext cx="3333750" cy="361950"/>
          </a:xfrm>
          <a:prstGeom prst="roundRect">
            <a:avLst>
              <a:gd name="adj" fmla="val 31579"/>
            </a:avLst>
          </a:prstGeom>
          <a:solidFill>
            <a:srgbClr val="00875A">
              <a:alpha val="25000"/>
            </a:srgbClr>
          </a:solidFill>
          <a:ln w="9525">
            <a:solidFill>
              <a:srgbClr val="00875A">
                <a:alpha val="5000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83E6AF-1C66-4674-84AA-3C8FD1FEC1E1}"/>
              </a:ext>
            </a:extLst>
          </p:cNvPr>
          <p:cNvSpPr>
            <a:spLocks noGrp="1"/>
          </p:cNvSpPr>
          <p:nvPr/>
        </p:nvSpPr>
        <p:spPr>
          <a:xfrm>
            <a:off x="7677150" y="4524375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>
                    <a:alpha val="75000"/>
                  </a:srgbClr>
                </a:solidFill>
                <a:latin typeface="Aptos"/>
                <a:ea typeface="Aptos"/>
                <a:cs typeface="Aptos"/>
              </a:rPr>
              <a:t>LET’S TALK DATA 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0AC083-94F8-4295-8069-048ABEC1B02D}"/>
              </a:ext>
            </a:extLst>
          </p:cNvPr>
          <p:cNvSpPr>
            <a:spLocks noGrp="1"/>
          </p:cNvSpPr>
          <p:nvPr/>
        </p:nvSpPr>
        <p:spPr>
          <a:xfrm>
            <a:off x="8991600" y="4514849"/>
            <a:ext cx="1724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937"/>
          </a:bodyPr>
          <a:lstStyle/>
          <a:p>
            <a:pPr algn="r">
              <a:defRPr sz="900" b="1" i="0">
                <a:solidFill>
                  <a:srgbClr val="7FD9B4"/>
                </a:solidFill>
                <a:latin typeface="Aptos"/>
                <a:ea typeface="Aptos"/>
                <a:cs typeface="Aptos"/>
              </a:defRPr>
            </a:pPr>
            <a:r>
              <a:rPr sz="900" b="1" i="0" dirty="0" err="1">
                <a:solidFill>
                  <a:srgbClr val="7FD9B4"/>
                </a:solidFill>
                <a:latin typeface="Aptos"/>
                <a:ea typeface="Aptos"/>
                <a:cs typeface="Aptos"/>
              </a:rPr>
              <a:t>mohamed.emad@connect.money</a:t>
            </a:r>
            <a:endParaRPr sz="900" b="1" i="0" dirty="0">
              <a:solidFill>
                <a:srgbClr val="7FD9B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23449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1485</Words>
  <Application>Microsoft Office PowerPoint</Application>
  <DocSecurity>0</DocSecurity>
  <PresentationFormat>Widescreen</PresentationFormat>
  <Paragraphs>354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Mohamed Emad</cp:lastModifiedBy>
  <cp:revision>2</cp:revision>
  <dcterms:created xsi:type="dcterms:W3CDTF">2026-07-24T21:28:10Z</dcterms:created>
  <dcterms:modified xsi:type="dcterms:W3CDTF">2026-07-24T21:58:20Z</dcterms:modified>
</cp:coreProperties>
</file>